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B29"/>
        </a:solidFill>
      </p:bgPr>
    </p:bg>
    <p:spTree>
      <p:nvGrpSpPr>
        <p:cNvPr id="1" name=""/>
        <p:cNvGrpSpPr/>
        <p:nvPr/>
      </p:nvGrpSpPr>
      <p:grpSpPr>
        <a:xfrm>
          <a:off x="0" y="0"/>
          <a:ext cx="0" cy="0"/>
          <a:chOff x="0" y="0"/>
          <a:chExt cx="0" cy="0"/>
        </a:xfrm>
      </p:grpSpPr>
      <p:sp>
        <p:nvSpPr>
          <p:cNvPr id="2" name="Text 0"/>
          <p:cNvSpPr/>
          <p:nvPr/>
        </p:nvSpPr>
        <p:spPr>
          <a:xfrm>
            <a:off x="822960" y="2148840"/>
            <a:ext cx="9144000" cy="1188720"/>
          </a:xfrm>
          <a:prstGeom prst="rect">
            <a:avLst/>
          </a:prstGeom>
          <a:noFill/>
          <a:ln/>
        </p:spPr>
        <p:txBody>
          <a:bodyPr wrap="square" lIns="0" tIns="0" rIns="0" bIns="0" rtlCol="0" anchor="ctr"/>
          <a:lstStyle/>
          <a:p>
            <a:pPr indent="0" marL="0">
              <a:buNone/>
            </a:pPr>
            <a:r>
              <a:rPr lang="en-US" sz="6600" b="1" spc="200" kern="0" dirty="0">
                <a:solidFill>
                  <a:srgbClr val="F7F1E4"/>
                </a:solidFill>
                <a:latin typeface="Cambria" pitchFamily="34" charset="0"/>
                <a:ea typeface="Cambria" pitchFamily="34" charset="-122"/>
                <a:cs typeface="Cambria" pitchFamily="34" charset="-120"/>
              </a:rPr>
              <a:t>SAUNTERBY</a:t>
            </a:r>
            <a:endParaRPr lang="en-US" sz="6600" dirty="0"/>
          </a:p>
        </p:txBody>
      </p:sp>
      <p:sp>
        <p:nvSpPr>
          <p:cNvPr id="3" name="Text 1"/>
          <p:cNvSpPr/>
          <p:nvPr/>
        </p:nvSpPr>
        <p:spPr>
          <a:xfrm>
            <a:off x="868680" y="3063240"/>
            <a:ext cx="7315200" cy="548640"/>
          </a:xfrm>
          <a:prstGeom prst="rect">
            <a:avLst/>
          </a:prstGeom>
          <a:noFill/>
          <a:ln/>
        </p:spPr>
        <p:txBody>
          <a:bodyPr wrap="square" lIns="0" tIns="0" rIns="0" bIns="0" rtlCol="0" anchor="ctr"/>
          <a:lstStyle/>
          <a:p>
            <a:pPr indent="0" marL="0">
              <a:buNone/>
            </a:pPr>
            <a:r>
              <a:rPr lang="en-US" sz="2200" i="1" dirty="0">
                <a:solidFill>
                  <a:srgbClr val="8CA37E"/>
                </a:solidFill>
                <a:latin typeface="Calibri" pitchFamily="34" charset="0"/>
                <a:ea typeface="Calibri" pitchFamily="34" charset="-122"/>
                <a:cs typeface="Calibri" pitchFamily="34" charset="-120"/>
              </a:rPr>
              <a:t>Built to thrive on.</a:t>
            </a:r>
            <a:endParaRPr lang="en-US" sz="2200" dirty="0"/>
          </a:p>
        </p:txBody>
      </p:sp>
      <p:sp>
        <p:nvSpPr>
          <p:cNvPr id="4" name="Text 2"/>
          <p:cNvSpPr/>
          <p:nvPr/>
        </p:nvSpPr>
        <p:spPr>
          <a:xfrm>
            <a:off x="868680" y="3703320"/>
            <a:ext cx="8229600" cy="731520"/>
          </a:xfrm>
          <a:prstGeom prst="rect">
            <a:avLst/>
          </a:prstGeom>
          <a:noFill/>
          <a:ln/>
        </p:spPr>
        <p:txBody>
          <a:bodyPr wrap="square" lIns="0" tIns="0" rIns="0" bIns="0" rtlCol="0" anchor="ctr"/>
          <a:lstStyle/>
          <a:p>
            <a:pPr indent="0" marL="0">
              <a:buNone/>
            </a:pPr>
            <a:r>
              <a:rPr lang="en-US" sz="1400" dirty="0">
                <a:solidFill>
                  <a:srgbClr val="C9C2B4"/>
                </a:solidFill>
                <a:latin typeface="Calibri" pitchFamily="34" charset="0"/>
                <a:ea typeface="Calibri" pitchFamily="34" charset="-122"/>
                <a:cs typeface="Calibri" pitchFamily="34" charset="-120"/>
              </a:rPr>
              <a:t>A membership for adults 55+ who want to stay active, capable, and engaged.</a:t>
            </a:r>
            <a:endParaRPr lang="en-US" sz="1400" dirty="0"/>
          </a:p>
        </p:txBody>
      </p:sp>
      <p:sp>
        <p:nvSpPr>
          <p:cNvPr id="5" name="Shape 3"/>
          <p:cNvSpPr/>
          <p:nvPr/>
        </p:nvSpPr>
        <p:spPr>
          <a:xfrm>
            <a:off x="9692640" y="640080"/>
            <a:ext cx="1920240" cy="1920240"/>
          </a:xfrm>
          <a:prstGeom prst="ellipse">
            <a:avLst/>
          </a:prstGeom>
          <a:solidFill>
            <a:srgbClr val="C6416F">
              <a:alpha val="85000"/>
            </a:srgbClr>
          </a:solidFill>
          <a:ln/>
        </p:spPr>
      </p:sp>
      <p:sp>
        <p:nvSpPr>
          <p:cNvPr id="6" name="Shape 4"/>
          <p:cNvSpPr/>
          <p:nvPr/>
        </p:nvSpPr>
        <p:spPr>
          <a:xfrm>
            <a:off x="10561320" y="1600200"/>
            <a:ext cx="1005840" cy="1005840"/>
          </a:xfrm>
          <a:prstGeom prst="ellipse">
            <a:avLst/>
          </a:prstGeom>
          <a:solidFill>
            <a:srgbClr val="8CA37E">
              <a:alpha val="90000"/>
            </a:srgbClr>
          </a:solidFill>
          <a:ln/>
        </p:spPr>
      </p:sp>
      <p:sp>
        <p:nvSpPr>
          <p:cNvPr id="7" name="Text 5"/>
          <p:cNvSpPr/>
          <p:nvPr/>
        </p:nvSpPr>
        <p:spPr>
          <a:xfrm>
            <a:off x="868680" y="6035040"/>
            <a:ext cx="9144000" cy="365760"/>
          </a:xfrm>
          <a:prstGeom prst="rect">
            <a:avLst/>
          </a:prstGeom>
          <a:noFill/>
          <a:ln/>
        </p:spPr>
        <p:txBody>
          <a:bodyPr wrap="square" lIns="0" tIns="0" rIns="0" bIns="0" rtlCol="0" anchor="ctr"/>
          <a:lstStyle/>
          <a:p>
            <a:pPr indent="0" marL="0">
              <a:buNone/>
            </a:pPr>
            <a:r>
              <a:rPr lang="en-US" sz="1050" spc="150" kern="0" dirty="0">
                <a:solidFill>
                  <a:srgbClr val="8C8C8C"/>
                </a:solidFill>
                <a:latin typeface="Calibri" pitchFamily="34" charset="0"/>
                <a:ea typeface="Calibri" pitchFamily="34" charset="-122"/>
                <a:cs typeface="Calibri" pitchFamily="34" charset="-120"/>
              </a:rPr>
              <a:t>BUILT TO KEEP GOING — STARTUP OPEN CALL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CDD"/>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200" b="1" spc="200" kern="0" dirty="0">
                <a:solidFill>
                  <a:srgbClr val="C6416F"/>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868680"/>
            <a:ext cx="10515600" cy="822960"/>
          </a:xfrm>
          <a:prstGeom prst="rect">
            <a:avLst/>
          </a:prstGeom>
          <a:noFill/>
          <a:ln/>
        </p:spPr>
        <p:txBody>
          <a:bodyPr wrap="square" lIns="0" tIns="0" rIns="0" bIns="0" rtlCol="0" anchor="ctr"/>
          <a:lstStyle/>
          <a:p>
            <a:pPr indent="0" marL="0">
              <a:buNone/>
            </a:pPr>
            <a:r>
              <a:rPr lang="en-US" sz="3200" b="1" dirty="0">
                <a:solidFill>
                  <a:srgbClr val="1C2630"/>
                </a:solidFill>
                <a:latin typeface="Cambria" pitchFamily="34" charset="0"/>
                <a:ea typeface="Cambria" pitchFamily="34" charset="-122"/>
                <a:cs typeface="Cambria" pitchFamily="34" charset="-120"/>
              </a:rPr>
              <a:t>Aging shouldn't shrink your calendar.</a:t>
            </a:r>
            <a:endParaRPr lang="en-US" sz="3200" dirty="0"/>
          </a:p>
        </p:txBody>
      </p:sp>
      <p:sp>
        <p:nvSpPr>
          <p:cNvPr id="4" name="Shape 2"/>
          <p:cNvSpPr/>
          <p:nvPr/>
        </p:nvSpPr>
        <p:spPr>
          <a:xfrm>
            <a:off x="640080" y="1965960"/>
            <a:ext cx="777240" cy="777240"/>
          </a:xfrm>
          <a:prstGeom prst="ellipse">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842162" y="2168042"/>
            <a:ext cx="373075" cy="373075"/>
          </a:xfrm>
          <a:prstGeom prst="rect">
            <a:avLst/>
          </a:prstGeom>
        </p:spPr>
      </p:pic>
      <p:sp>
        <p:nvSpPr>
          <p:cNvPr id="6" name="Text 3"/>
          <p:cNvSpPr/>
          <p:nvPr/>
        </p:nvSpPr>
        <p:spPr>
          <a:xfrm>
            <a:off x="1691640" y="1965960"/>
            <a:ext cx="4937760" cy="1920240"/>
          </a:xfrm>
          <a:prstGeom prst="rect">
            <a:avLst/>
          </a:prstGeom>
          <a:noFill/>
          <a:ln/>
        </p:spPr>
        <p:txBody>
          <a:bodyPr wrap="square" lIns="0" tIns="0" rIns="0" bIns="0" rtlCol="0" anchor="t"/>
          <a:lstStyle/>
          <a:p>
            <a:pPr indent="0" marL="0">
              <a:buNone/>
            </a:pPr>
            <a:r>
              <a:rPr lang="en-US" sz="1450" dirty="0">
                <a:solidFill>
                  <a:srgbClr val="1C2630"/>
                </a:solidFill>
                <a:latin typeface="Calibri" pitchFamily="34" charset="0"/>
                <a:ea typeface="Calibri" pitchFamily="34" charset="-122"/>
                <a:cs typeface="Calibri" pitchFamily="34" charset="-120"/>
              </a:rPr>
              <a:t>For people 55+, there's no easy version of ClassPass or Airbnb Experiences — a way to try a painting class, a wine tasting, or a spa afternoon on a whim. Most options that exist are built around medical need, not curiosity.</a:t>
            </a:r>
            <a:endParaRPr lang="en-US" sz="1450" dirty="0"/>
          </a:p>
        </p:txBody>
      </p:sp>
      <p:sp>
        <p:nvSpPr>
          <p:cNvPr id="7" name="Shape 4"/>
          <p:cNvSpPr/>
          <p:nvPr/>
        </p:nvSpPr>
        <p:spPr>
          <a:xfrm>
            <a:off x="7040880" y="1828800"/>
            <a:ext cx="4480560" cy="3200400"/>
          </a:xfrm>
          <a:prstGeom prst="roundRect">
            <a:avLst>
              <a:gd name="adj" fmla="val 2286"/>
            </a:avLst>
          </a:prstGeom>
          <a:solidFill>
            <a:srgbClr val="262B29"/>
          </a:solidFill>
          <a:ln/>
          <a:effectLst>
            <a:outerShdw sx="100000" sy="100000" kx="0" ky="0" algn="bl" rotWithShape="0" blurRad="127000" dist="38100" dir="2700000">
              <a:srgbClr val="000000">
                <a:alpha val="15000"/>
              </a:srgbClr>
            </a:outerShdw>
          </a:effectLst>
        </p:spPr>
      </p:sp>
      <p:sp>
        <p:nvSpPr>
          <p:cNvPr id="8" name="Text 5"/>
          <p:cNvSpPr/>
          <p:nvPr/>
        </p:nvSpPr>
        <p:spPr>
          <a:xfrm>
            <a:off x="7406640" y="2103120"/>
            <a:ext cx="3749040" cy="822960"/>
          </a:xfrm>
          <a:prstGeom prst="rect">
            <a:avLst/>
          </a:prstGeom>
          <a:noFill/>
          <a:ln/>
        </p:spPr>
        <p:txBody>
          <a:bodyPr wrap="square" lIns="0" tIns="0" rIns="0" bIns="0" rtlCol="0" anchor="ctr"/>
          <a:lstStyle/>
          <a:p>
            <a:pPr indent="0" marL="0">
              <a:buNone/>
            </a:pPr>
            <a:r>
              <a:rPr lang="en-US" sz="1500" b="1" dirty="0">
                <a:solidFill>
                  <a:srgbClr val="F7F1E4"/>
                </a:solidFill>
                <a:latin typeface="Cambria" pitchFamily="34" charset="0"/>
                <a:ea typeface="Cambria" pitchFamily="34" charset="-122"/>
                <a:cs typeface="Cambria" pitchFamily="34" charset="-120"/>
              </a:rPr>
              <a:t>Benefits already exist. They just don't talk to each other.</a:t>
            </a:r>
            <a:endParaRPr lang="en-US" sz="1500" dirty="0"/>
          </a:p>
        </p:txBody>
      </p:sp>
      <p:sp>
        <p:nvSpPr>
          <p:cNvPr id="9" name="Text 6"/>
          <p:cNvSpPr/>
          <p:nvPr/>
        </p:nvSpPr>
        <p:spPr>
          <a:xfrm>
            <a:off x="7406640" y="2971800"/>
            <a:ext cx="3749040" cy="18288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D8D2C2"/>
                </a:solidFill>
                <a:latin typeface="Calibri" pitchFamily="34" charset="0"/>
                <a:ea typeface="Calibri" pitchFamily="34" charset="-122"/>
                <a:cs typeface="Calibri" pitchFamily="34" charset="-120"/>
              </a:rPr>
              <a:t>A Medicare wellness/flex card allowance</a:t>
            </a:r>
            <a:endParaRPr lang="en-US" sz="1250" dirty="0"/>
          </a:p>
          <a:p>
            <a:pPr marL="342900" indent="-342900">
              <a:spcAft>
                <a:spcPts val="800"/>
              </a:spcAft>
              <a:buSzPct val="100000"/>
              <a:buChar char="•"/>
            </a:pPr>
            <a:r>
              <a:rPr lang="en-US" sz="1250" dirty="0">
                <a:solidFill>
                  <a:srgbClr val="D8D2C2"/>
                </a:solidFill>
                <a:latin typeface="Calibri" pitchFamily="34" charset="0"/>
                <a:ea typeface="Calibri" pitchFamily="34" charset="-122"/>
                <a:cs typeface="Calibri" pitchFamily="34" charset="-120"/>
              </a:rPr>
              <a:t>A SilverSneakers or Silver&amp;Fit membership</a:t>
            </a:r>
            <a:endParaRPr lang="en-US" sz="1250" dirty="0"/>
          </a:p>
          <a:p>
            <a:pPr marL="342900" indent="-342900">
              <a:spcAft>
                <a:spcPts val="800"/>
              </a:spcAft>
              <a:buSzPct val="100000"/>
              <a:buChar char="•"/>
            </a:pPr>
            <a:r>
              <a:rPr lang="en-US" sz="1250" dirty="0">
                <a:solidFill>
                  <a:srgbClr val="D8D2C2"/>
                </a:solidFill>
                <a:latin typeface="Calibri" pitchFamily="34" charset="0"/>
                <a:ea typeface="Calibri" pitchFamily="34" charset="-122"/>
                <a:cs typeface="Calibri" pitchFamily="34" charset="-120"/>
              </a:rPr>
              <a:t>A senior center calendar nobody sees</a:t>
            </a:r>
            <a:endParaRPr lang="en-US" sz="1250" dirty="0"/>
          </a:p>
          <a:p>
            <a:pPr marL="342900" indent="-342900">
              <a:spcAft>
                <a:spcPts val="800"/>
              </a:spcAft>
              <a:buSzPct val="100000"/>
              <a:buChar char="•"/>
            </a:pPr>
            <a:r>
              <a:rPr lang="en-US" sz="1250" dirty="0">
                <a:solidFill>
                  <a:srgbClr val="D8D2C2"/>
                </a:solidFill>
                <a:latin typeface="Calibri" pitchFamily="34" charset="0"/>
                <a:ea typeface="Calibri" pitchFamily="34" charset="-122"/>
                <a:cs typeface="Calibri" pitchFamily="34" charset="-120"/>
              </a:rPr>
              <a:t>Everyday vendor senior discounts</a:t>
            </a:r>
            <a:endParaRPr lang="en-US" sz="1250" dirty="0"/>
          </a:p>
        </p:txBody>
      </p:sp>
      <p:sp>
        <p:nvSpPr>
          <p:cNvPr id="10" name="Text 7"/>
          <p:cNvSpPr/>
          <p:nvPr/>
        </p:nvSpPr>
        <p:spPr>
          <a:xfrm>
            <a:off x="10972800" y="6355080"/>
            <a:ext cx="91440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02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62B29"/>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200" b="1" spc="200" kern="0" dirty="0">
                <a:solidFill>
                  <a:srgbClr val="8CA37E"/>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640080" y="868680"/>
            <a:ext cx="10515600" cy="822960"/>
          </a:xfrm>
          <a:prstGeom prst="rect">
            <a:avLst/>
          </a:prstGeom>
          <a:noFill/>
          <a:ln/>
        </p:spPr>
        <p:txBody>
          <a:bodyPr wrap="square" lIns="0" tIns="0" rIns="0" bIns="0" rtlCol="0" anchor="ctr"/>
          <a:lstStyle/>
          <a:p>
            <a:pPr indent="0" marL="0">
              <a:buNone/>
            </a:pPr>
            <a:r>
              <a:rPr lang="en-US" sz="3000" b="1" dirty="0">
                <a:solidFill>
                  <a:srgbClr val="F7F1E4"/>
                </a:solidFill>
                <a:latin typeface="Cambria" pitchFamily="34" charset="0"/>
                <a:ea typeface="Cambria" pitchFamily="34" charset="-122"/>
                <a:cs typeface="Cambria" pitchFamily="34" charset="-120"/>
              </a:rPr>
              <a:t>One membership. Every reason to say yes.</a:t>
            </a:r>
            <a:endParaRPr lang="en-US" sz="3000" dirty="0"/>
          </a:p>
        </p:txBody>
      </p:sp>
      <p:sp>
        <p:nvSpPr>
          <p:cNvPr id="4" name="Text 2"/>
          <p:cNvSpPr/>
          <p:nvPr/>
        </p:nvSpPr>
        <p:spPr>
          <a:xfrm>
            <a:off x="640080" y="1783080"/>
            <a:ext cx="10698480" cy="777240"/>
          </a:xfrm>
          <a:prstGeom prst="rect">
            <a:avLst/>
          </a:prstGeom>
          <a:noFill/>
          <a:ln/>
        </p:spPr>
        <p:txBody>
          <a:bodyPr wrap="square" lIns="0" tIns="0" rIns="0" bIns="0" rtlCol="0" anchor="ctr"/>
          <a:lstStyle/>
          <a:p>
            <a:pPr indent="0" marL="0">
              <a:buNone/>
            </a:pPr>
            <a:r>
              <a:rPr lang="en-US" sz="1450" dirty="0">
                <a:solidFill>
                  <a:srgbClr val="D8D2C2"/>
                </a:solidFill>
                <a:latin typeface="Calibri" pitchFamily="34" charset="0"/>
                <a:ea typeface="Calibri" pitchFamily="34" charset="-122"/>
                <a:cs typeface="Calibri" pitchFamily="34" charset="-120"/>
              </a:rPr>
              <a:t>Saunterby is a membership that unlocks a rotating lineup of active, social experiences — painting workshops, wine tastings, hikes, pottery, live music, qigong, trivia nights, spa days — curated and booked by a real Navigator for people 55+.</a:t>
            </a:r>
            <a:endParaRPr lang="en-US" sz="1450" dirty="0"/>
          </a:p>
        </p:txBody>
      </p:sp>
      <p:sp>
        <p:nvSpPr>
          <p:cNvPr id="5" name="Shape 3"/>
          <p:cNvSpPr/>
          <p:nvPr/>
        </p:nvSpPr>
        <p:spPr>
          <a:xfrm>
            <a:off x="640080" y="2880360"/>
            <a:ext cx="3429000" cy="2926080"/>
          </a:xfrm>
          <a:prstGeom prst="roundRect">
            <a:avLst>
              <a:gd name="adj" fmla="val 2500"/>
            </a:avLst>
          </a:prstGeom>
          <a:solidFill>
            <a:srgbClr val="313836"/>
          </a:solidFill>
          <a:ln/>
        </p:spPr>
      </p:sp>
      <p:sp>
        <p:nvSpPr>
          <p:cNvPr id="6" name="Shape 4"/>
          <p:cNvSpPr/>
          <p:nvPr/>
        </p:nvSpPr>
        <p:spPr>
          <a:xfrm>
            <a:off x="960120" y="3200400"/>
            <a:ext cx="640080" cy="640080"/>
          </a:xfrm>
          <a:prstGeom prst="ellipse">
            <a:avLst/>
          </a:prstGeom>
          <a:solidFill>
            <a:srgbClr val="F3ECDD"/>
          </a:solidFill>
          <a:ln/>
        </p:spPr>
      </p:sp>
      <p:pic>
        <p:nvPicPr>
          <p:cNvPr id="7" name="Image 0" descr="preencoded.png">    </p:cNvPr>
          <p:cNvPicPr>
            <a:picLocks noChangeAspect="1"/>
          </p:cNvPicPr>
          <p:nvPr/>
        </p:nvPicPr>
        <p:blipFill>
          <a:blip r:embed="rId1"/>
          <a:stretch>
            <a:fillRect/>
          </a:stretch>
        </p:blipFill>
        <p:spPr>
          <a:xfrm>
            <a:off x="1126541" y="3366821"/>
            <a:ext cx="307238" cy="307238"/>
          </a:xfrm>
          <a:prstGeom prst="rect">
            <a:avLst/>
          </a:prstGeom>
        </p:spPr>
      </p:pic>
      <p:sp>
        <p:nvSpPr>
          <p:cNvPr id="8" name="Text 5"/>
          <p:cNvSpPr/>
          <p:nvPr/>
        </p:nvSpPr>
        <p:spPr>
          <a:xfrm>
            <a:off x="960120" y="4023360"/>
            <a:ext cx="2788920" cy="548640"/>
          </a:xfrm>
          <a:prstGeom prst="rect">
            <a:avLst/>
          </a:prstGeom>
          <a:noFill/>
          <a:ln/>
        </p:spPr>
        <p:txBody>
          <a:bodyPr wrap="square" lIns="0" tIns="0" rIns="0" bIns="0" rtlCol="0" anchor="ctr"/>
          <a:lstStyle/>
          <a:p>
            <a:pPr indent="0" marL="0">
              <a:buNone/>
            </a:pPr>
            <a:r>
              <a:rPr lang="en-US" sz="1550" b="1" dirty="0">
                <a:solidFill>
                  <a:srgbClr val="F7F1E4"/>
                </a:solidFill>
                <a:latin typeface="Cambria" pitchFamily="34" charset="0"/>
                <a:ea typeface="Cambria" pitchFamily="34" charset="-122"/>
                <a:cs typeface="Cambria" pitchFamily="34" charset="-120"/>
              </a:rPr>
              <a:t>Curated, not generic</a:t>
            </a:r>
            <a:endParaRPr lang="en-US" sz="1550" dirty="0"/>
          </a:p>
        </p:txBody>
      </p:sp>
      <p:sp>
        <p:nvSpPr>
          <p:cNvPr id="9" name="Text 6"/>
          <p:cNvSpPr/>
          <p:nvPr/>
        </p:nvSpPr>
        <p:spPr>
          <a:xfrm>
            <a:off x="960120" y="4572000"/>
            <a:ext cx="2788920" cy="1097280"/>
          </a:xfrm>
          <a:prstGeom prst="rect">
            <a:avLst/>
          </a:prstGeom>
          <a:noFill/>
          <a:ln/>
        </p:spPr>
        <p:txBody>
          <a:bodyPr wrap="square" lIns="0" tIns="0" rIns="0" bIns="0" rtlCol="0" anchor="t"/>
          <a:lstStyle/>
          <a:p>
            <a:pPr indent="0" marL="0">
              <a:buNone/>
            </a:pPr>
            <a:r>
              <a:rPr lang="en-US" sz="1200" dirty="0">
                <a:solidFill>
                  <a:srgbClr val="C9C2B4"/>
                </a:solidFill>
                <a:latin typeface="Calibri" pitchFamily="34" charset="0"/>
                <a:ea typeface="Calibri" pitchFamily="34" charset="-122"/>
                <a:cs typeface="Calibri" pitchFamily="34" charset="-120"/>
              </a:rPr>
              <a:t>Every activity vetted and tagged for accessibility — step-free, seated pace, hearing loop.</a:t>
            </a:r>
            <a:endParaRPr lang="en-US" sz="1200" dirty="0"/>
          </a:p>
        </p:txBody>
      </p:sp>
      <p:sp>
        <p:nvSpPr>
          <p:cNvPr id="10" name="Shape 7"/>
          <p:cNvSpPr/>
          <p:nvPr/>
        </p:nvSpPr>
        <p:spPr>
          <a:xfrm>
            <a:off x="4389120" y="2880360"/>
            <a:ext cx="3429000" cy="2926080"/>
          </a:xfrm>
          <a:prstGeom prst="roundRect">
            <a:avLst>
              <a:gd name="adj" fmla="val 2500"/>
            </a:avLst>
          </a:prstGeom>
          <a:solidFill>
            <a:srgbClr val="313836"/>
          </a:solidFill>
          <a:ln/>
        </p:spPr>
      </p:sp>
      <p:sp>
        <p:nvSpPr>
          <p:cNvPr id="11" name="Shape 8"/>
          <p:cNvSpPr/>
          <p:nvPr/>
        </p:nvSpPr>
        <p:spPr>
          <a:xfrm>
            <a:off x="4709160" y="3200400"/>
            <a:ext cx="640080" cy="640080"/>
          </a:xfrm>
          <a:prstGeom prst="ellipse">
            <a:avLst/>
          </a:prstGeom>
          <a:solidFill>
            <a:srgbClr val="F3ECDD"/>
          </a:solidFill>
          <a:ln/>
        </p:spPr>
      </p:sp>
      <p:pic>
        <p:nvPicPr>
          <p:cNvPr id="12" name="Image 1" descr="preencoded.png">    </p:cNvPr>
          <p:cNvPicPr>
            <a:picLocks noChangeAspect="1"/>
          </p:cNvPicPr>
          <p:nvPr/>
        </p:nvPicPr>
        <p:blipFill>
          <a:blip r:embed="rId2"/>
          <a:stretch>
            <a:fillRect/>
          </a:stretch>
        </p:blipFill>
        <p:spPr>
          <a:xfrm>
            <a:off x="4875581" y="3366821"/>
            <a:ext cx="307238" cy="307238"/>
          </a:xfrm>
          <a:prstGeom prst="rect">
            <a:avLst/>
          </a:prstGeom>
        </p:spPr>
      </p:pic>
      <p:sp>
        <p:nvSpPr>
          <p:cNvPr id="13" name="Text 9"/>
          <p:cNvSpPr/>
          <p:nvPr/>
        </p:nvSpPr>
        <p:spPr>
          <a:xfrm>
            <a:off x="4709160" y="4023360"/>
            <a:ext cx="2788920" cy="548640"/>
          </a:xfrm>
          <a:prstGeom prst="rect">
            <a:avLst/>
          </a:prstGeom>
          <a:noFill/>
          <a:ln/>
        </p:spPr>
        <p:txBody>
          <a:bodyPr wrap="square" lIns="0" tIns="0" rIns="0" bIns="0" rtlCol="0" anchor="ctr"/>
          <a:lstStyle/>
          <a:p>
            <a:pPr indent="0" marL="0">
              <a:buNone/>
            </a:pPr>
            <a:r>
              <a:rPr lang="en-US" sz="1550" b="1" dirty="0">
                <a:solidFill>
                  <a:srgbClr val="F7F1E4"/>
                </a:solidFill>
                <a:latin typeface="Cambria" pitchFamily="34" charset="0"/>
                <a:ea typeface="Cambria" pitchFamily="34" charset="-122"/>
                <a:cs typeface="Cambria" pitchFamily="34" charset="-120"/>
              </a:rPr>
              <a:t>The ride is included</a:t>
            </a:r>
            <a:endParaRPr lang="en-US" sz="1550" dirty="0"/>
          </a:p>
        </p:txBody>
      </p:sp>
      <p:sp>
        <p:nvSpPr>
          <p:cNvPr id="14" name="Text 10"/>
          <p:cNvSpPr/>
          <p:nvPr/>
        </p:nvSpPr>
        <p:spPr>
          <a:xfrm>
            <a:off x="4709160" y="4572000"/>
            <a:ext cx="2788920" cy="1097280"/>
          </a:xfrm>
          <a:prstGeom prst="rect">
            <a:avLst/>
          </a:prstGeom>
          <a:noFill/>
          <a:ln/>
        </p:spPr>
        <p:txBody>
          <a:bodyPr wrap="square" lIns="0" tIns="0" rIns="0" bIns="0" rtlCol="0" anchor="t"/>
          <a:lstStyle/>
          <a:p>
            <a:pPr indent="0" marL="0">
              <a:buNone/>
            </a:pPr>
            <a:r>
              <a:rPr lang="en-US" sz="1200" dirty="0">
                <a:solidFill>
                  <a:srgbClr val="C9C2B4"/>
                </a:solidFill>
                <a:latin typeface="Calibri" pitchFamily="34" charset="0"/>
                <a:ea typeface="Calibri" pitchFamily="34" charset="-122"/>
                <a:cs typeface="Calibri" pitchFamily="34" charset="-120"/>
              </a:rPr>
              <a:t>Your Navigator arranges vetted transportation to and from every experience, urban or rural.</a:t>
            </a:r>
            <a:endParaRPr lang="en-US" sz="1200" dirty="0"/>
          </a:p>
        </p:txBody>
      </p:sp>
      <p:sp>
        <p:nvSpPr>
          <p:cNvPr id="15" name="Shape 11"/>
          <p:cNvSpPr/>
          <p:nvPr/>
        </p:nvSpPr>
        <p:spPr>
          <a:xfrm>
            <a:off x="8138160" y="2880360"/>
            <a:ext cx="3429000" cy="2926080"/>
          </a:xfrm>
          <a:prstGeom prst="roundRect">
            <a:avLst>
              <a:gd name="adj" fmla="val 2500"/>
            </a:avLst>
          </a:prstGeom>
          <a:solidFill>
            <a:srgbClr val="313836"/>
          </a:solidFill>
          <a:ln/>
        </p:spPr>
      </p:sp>
      <p:sp>
        <p:nvSpPr>
          <p:cNvPr id="16" name="Shape 12"/>
          <p:cNvSpPr/>
          <p:nvPr/>
        </p:nvSpPr>
        <p:spPr>
          <a:xfrm>
            <a:off x="8458200" y="3200400"/>
            <a:ext cx="640080" cy="640080"/>
          </a:xfrm>
          <a:prstGeom prst="ellipse">
            <a:avLst/>
          </a:prstGeom>
          <a:solidFill>
            <a:srgbClr val="F3ECDD"/>
          </a:solidFill>
          <a:ln/>
        </p:spPr>
      </p:sp>
      <p:pic>
        <p:nvPicPr>
          <p:cNvPr id="17" name="Image 2" descr="preencoded.png">    </p:cNvPr>
          <p:cNvPicPr>
            <a:picLocks noChangeAspect="1"/>
          </p:cNvPicPr>
          <p:nvPr/>
        </p:nvPicPr>
        <p:blipFill>
          <a:blip r:embed="rId3"/>
          <a:stretch>
            <a:fillRect/>
          </a:stretch>
        </p:blipFill>
        <p:spPr>
          <a:xfrm>
            <a:off x="8624621" y="3366821"/>
            <a:ext cx="307238" cy="307238"/>
          </a:xfrm>
          <a:prstGeom prst="rect">
            <a:avLst/>
          </a:prstGeom>
        </p:spPr>
      </p:pic>
      <p:sp>
        <p:nvSpPr>
          <p:cNvPr id="18" name="Text 13"/>
          <p:cNvSpPr/>
          <p:nvPr/>
        </p:nvSpPr>
        <p:spPr>
          <a:xfrm>
            <a:off x="8458200" y="4023360"/>
            <a:ext cx="2788920" cy="548640"/>
          </a:xfrm>
          <a:prstGeom prst="rect">
            <a:avLst/>
          </a:prstGeom>
          <a:noFill/>
          <a:ln/>
        </p:spPr>
        <p:txBody>
          <a:bodyPr wrap="square" lIns="0" tIns="0" rIns="0" bIns="0" rtlCol="0" anchor="ctr"/>
          <a:lstStyle/>
          <a:p>
            <a:pPr indent="0" marL="0">
              <a:buNone/>
            </a:pPr>
            <a:r>
              <a:rPr lang="en-US" sz="1550" b="1" dirty="0">
                <a:solidFill>
                  <a:srgbClr val="F7F1E4"/>
                </a:solidFill>
                <a:latin typeface="Cambria" pitchFamily="34" charset="0"/>
                <a:ea typeface="Cambria" pitchFamily="34" charset="-122"/>
                <a:cs typeface="Cambria" pitchFamily="34" charset="-120"/>
              </a:rPr>
              <a:t>Benefits-inclusive</a:t>
            </a:r>
            <a:endParaRPr lang="en-US" sz="1550" dirty="0"/>
          </a:p>
        </p:txBody>
      </p:sp>
      <p:sp>
        <p:nvSpPr>
          <p:cNvPr id="19" name="Text 14"/>
          <p:cNvSpPr/>
          <p:nvPr/>
        </p:nvSpPr>
        <p:spPr>
          <a:xfrm>
            <a:off x="8458200" y="4572000"/>
            <a:ext cx="2788920" cy="1097280"/>
          </a:xfrm>
          <a:prstGeom prst="rect">
            <a:avLst/>
          </a:prstGeom>
          <a:noFill/>
          <a:ln/>
        </p:spPr>
        <p:txBody>
          <a:bodyPr wrap="square" lIns="0" tIns="0" rIns="0" bIns="0" rtlCol="0" anchor="t"/>
          <a:lstStyle/>
          <a:p>
            <a:pPr indent="0" marL="0">
              <a:buNone/>
            </a:pPr>
            <a:r>
              <a:rPr lang="en-US" sz="1200" dirty="0">
                <a:solidFill>
                  <a:srgbClr val="C9C2B4"/>
                </a:solidFill>
                <a:latin typeface="Calibri" pitchFamily="34" charset="0"/>
                <a:ea typeface="Calibri" pitchFamily="34" charset="-122"/>
                <a:cs typeface="Calibri" pitchFamily="34" charset="-120"/>
              </a:rPr>
              <a:t>Pay in full, sliding scale, or benefit dollars from a wellness card — never gated by health status.</a:t>
            </a:r>
            <a:endParaRPr lang="en-US" sz="1200" dirty="0"/>
          </a:p>
        </p:txBody>
      </p:sp>
      <p:sp>
        <p:nvSpPr>
          <p:cNvPr id="20" name="Text 15"/>
          <p:cNvSpPr/>
          <p:nvPr/>
        </p:nvSpPr>
        <p:spPr>
          <a:xfrm>
            <a:off x="10972800" y="6355080"/>
            <a:ext cx="91440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03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CDD"/>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200" b="1" spc="200" kern="0" dirty="0">
                <a:solidFill>
                  <a:srgbClr val="C6416F"/>
                </a:solidFill>
                <a:latin typeface="Calibri" pitchFamily="34" charset="0"/>
                <a:ea typeface="Calibri" pitchFamily="34" charset="-122"/>
                <a:cs typeface="Calibri" pitchFamily="34" charset="-120"/>
              </a:rPr>
              <a:t>WHAT SETS US APART</a:t>
            </a:r>
            <a:endParaRPr lang="en-US" sz="1200" dirty="0"/>
          </a:p>
        </p:txBody>
      </p:sp>
      <p:sp>
        <p:nvSpPr>
          <p:cNvPr id="3" name="Text 1"/>
          <p:cNvSpPr/>
          <p:nvPr/>
        </p:nvSpPr>
        <p:spPr>
          <a:xfrm>
            <a:off x="640080" y="868680"/>
            <a:ext cx="10515600" cy="822960"/>
          </a:xfrm>
          <a:prstGeom prst="rect">
            <a:avLst/>
          </a:prstGeom>
          <a:noFill/>
          <a:ln/>
        </p:spPr>
        <p:txBody>
          <a:bodyPr wrap="square" lIns="0" tIns="0" rIns="0" bIns="0" rtlCol="0" anchor="ctr"/>
          <a:lstStyle/>
          <a:p>
            <a:pPr indent="0" marL="0">
              <a:buNone/>
            </a:pPr>
            <a:r>
              <a:rPr lang="en-US" sz="3000" b="1" dirty="0">
                <a:solidFill>
                  <a:srgbClr val="1C2630"/>
                </a:solidFill>
                <a:latin typeface="Cambria" pitchFamily="34" charset="0"/>
                <a:ea typeface="Cambria" pitchFamily="34" charset="-122"/>
                <a:cs typeface="Cambria" pitchFamily="34" charset="-120"/>
              </a:rPr>
              <a:t>We're not another point solution.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2743200"/>
                <a:gridCol w="4297680"/>
                <a:gridCol w="4297680"/>
              </a:tblGrid>
              <a:tr h="713232">
                <a:tc>
                  <a:txBody>
                    <a:bodyPr/>
                    <a:lstStyle/>
                    <a:p>
                      <a:pPr indent="0" marL="0">
                        <a:buNone/>
                      </a:pPr>
                      <a:r>
                        <a:rPr lang="en-US" sz="1250" b="1" dirty="0">
                          <a:solidFill>
                            <a:srgbClr val="F7F1E4"/>
                          </a:solidFill>
                          <a:latin typeface="Calibri" pitchFamily="34" charset="0"/>
                          <a:ea typeface="Calibri" pitchFamily="34" charset="-122"/>
                          <a:cs typeface="Calibri" pitchFamily="34" charset="-120"/>
                        </a:rPr>
                        <a:t>Player</a:t>
                      </a:r>
                      <a:endParaRPr lang="en-US" sz="125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262B29"/>
                    </a:solidFill>
                  </a:tcPr>
                </a:tc>
                <a:tc>
                  <a:txBody>
                    <a:bodyPr/>
                    <a:lstStyle/>
                    <a:p>
                      <a:pPr indent="0" marL="0">
                        <a:buNone/>
                      </a:pPr>
                      <a:r>
                        <a:rPr lang="en-US" sz="1250" b="1" dirty="0">
                          <a:solidFill>
                            <a:srgbClr val="F7F1E4"/>
                          </a:solidFill>
                          <a:latin typeface="Calibri" pitchFamily="34" charset="0"/>
                          <a:ea typeface="Calibri" pitchFamily="34" charset="-122"/>
                          <a:cs typeface="Calibri" pitchFamily="34" charset="-120"/>
                        </a:rPr>
                        <a:t>What they do well</a:t>
                      </a:r>
                      <a:endParaRPr lang="en-US" sz="125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262B29"/>
                    </a:solidFill>
                  </a:tcPr>
                </a:tc>
                <a:tc>
                  <a:txBody>
                    <a:bodyPr/>
                    <a:lstStyle/>
                    <a:p>
                      <a:pPr indent="0" marL="0">
                        <a:buNone/>
                      </a:pPr>
                      <a:r>
                        <a:rPr lang="en-US" sz="1250" b="1" dirty="0">
                          <a:solidFill>
                            <a:srgbClr val="F7F1E4"/>
                          </a:solidFill>
                          <a:latin typeface="Calibri" pitchFamily="34" charset="0"/>
                          <a:ea typeface="Calibri" pitchFamily="34" charset="-122"/>
                          <a:cs typeface="Calibri" pitchFamily="34" charset="-120"/>
                        </a:rPr>
                        <a:t>What's missing</a:t>
                      </a:r>
                      <a:endParaRPr lang="en-US" sz="125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262B29"/>
                    </a:solidFill>
                  </a:tcPr>
                </a:tc>
              </a:tr>
              <a:tr h="713232">
                <a:tc>
                  <a:txBody>
                    <a:bodyPr/>
                    <a:lstStyle/>
                    <a:p>
                      <a:pPr indent="0" marL="0">
                        <a:buNone/>
                      </a:pPr>
                      <a:r>
                        <a:rPr lang="en-US" sz="1200" b="1" dirty="0">
                          <a:solidFill>
                            <a:srgbClr val="1C2630"/>
                          </a:solidFill>
                          <a:latin typeface="Calibri" pitchFamily="34" charset="0"/>
                          <a:ea typeface="Calibri" pitchFamily="34" charset="-122"/>
                          <a:cs typeface="Calibri" pitchFamily="34" charset="-120"/>
                        </a:rPr>
                        <a:t>ClassPass</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EFE7D6"/>
                    </a:solidFill>
                  </a:tcPr>
                </a:tc>
                <a:tc>
                  <a:txBody>
                    <a:bodyPr/>
                    <a:lstStyle/>
                    <a:p>
                      <a:pPr indent="0" marL="0">
                        <a:buNone/>
                      </a:pPr>
                      <a:r>
                        <a:rPr lang="en-US" sz="1200" dirty="0">
                          <a:solidFill>
                            <a:srgbClr val="1C2630"/>
                          </a:solidFill>
                          <a:latin typeface="Calibri" pitchFamily="34" charset="0"/>
                          <a:ea typeface="Calibri" pitchFamily="34" charset="-122"/>
                          <a:cs typeface="Calibri" pitchFamily="34" charset="-120"/>
                        </a:rPr>
                        <a:t>Flexible fitness/studio access</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EFE7D6"/>
                    </a:solidFill>
                  </a:tcPr>
                </a:tc>
                <a:tc>
                  <a:txBody>
                    <a:bodyPr/>
                    <a:lstStyle/>
                    <a:p>
                      <a:pPr indent="0" marL="0">
                        <a:buNone/>
                      </a:pPr>
                      <a:r>
                        <a:rPr lang="en-US" sz="1200" dirty="0">
                          <a:solidFill>
                            <a:srgbClr val="1C2630"/>
                          </a:solidFill>
                          <a:latin typeface="Calibri" pitchFamily="34" charset="0"/>
                          <a:ea typeface="Calibri" pitchFamily="34" charset="-122"/>
                          <a:cs typeface="Calibri" pitchFamily="34" charset="-120"/>
                        </a:rPr>
                        <a:t>Not curated for 55+, no non-fitness experiences</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EFE7D6"/>
                    </a:solidFill>
                  </a:tcPr>
                </a:tc>
              </a:tr>
              <a:tr h="713232">
                <a:tc>
                  <a:txBody>
                    <a:bodyPr/>
                    <a:lstStyle/>
                    <a:p>
                      <a:pPr indent="0" marL="0">
                        <a:buNone/>
                      </a:pPr>
                      <a:r>
                        <a:rPr lang="en-US" sz="1200" b="1" dirty="0">
                          <a:solidFill>
                            <a:srgbClr val="1C2630"/>
                          </a:solidFill>
                          <a:latin typeface="Calibri" pitchFamily="34" charset="0"/>
                          <a:ea typeface="Calibri" pitchFamily="34" charset="-122"/>
                          <a:cs typeface="Calibri" pitchFamily="34" charset="-120"/>
                        </a:rPr>
                        <a:t>GetSetUp / Senior Planet</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FFFFFF"/>
                    </a:solidFill>
                  </a:tcPr>
                </a:tc>
                <a:tc>
                  <a:txBody>
                    <a:bodyPr/>
                    <a:lstStyle/>
                    <a:p>
                      <a:pPr indent="0" marL="0">
                        <a:buNone/>
                      </a:pPr>
                      <a:r>
                        <a:rPr lang="en-US" sz="1200" dirty="0">
                          <a:solidFill>
                            <a:srgbClr val="1C2630"/>
                          </a:solidFill>
                          <a:latin typeface="Calibri" pitchFamily="34" charset="0"/>
                          <a:ea typeface="Calibri" pitchFamily="34" charset="-122"/>
                          <a:cs typeface="Calibri" pitchFamily="34" charset="-120"/>
                        </a:rPr>
                        <a:t>Virtual education, digital skills</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FFFFFF"/>
                    </a:solidFill>
                  </a:tcPr>
                </a:tc>
                <a:tc>
                  <a:txBody>
                    <a:bodyPr/>
                    <a:lstStyle/>
                    <a:p>
                      <a:pPr indent="0" marL="0">
                        <a:buNone/>
                      </a:pPr>
                      <a:r>
                        <a:rPr lang="en-US" sz="1200" dirty="0">
                          <a:solidFill>
                            <a:srgbClr val="1C2630"/>
                          </a:solidFill>
                          <a:latin typeface="Calibri" pitchFamily="34" charset="0"/>
                          <a:ea typeface="Calibri" pitchFamily="34" charset="-122"/>
                          <a:cs typeface="Calibri" pitchFamily="34" charset="-120"/>
                        </a:rPr>
                        <a:t>Not always in-person or experiential.</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C2630"/>
                          </a:solidFill>
                          <a:latin typeface="Calibri" pitchFamily="34" charset="0"/>
                          <a:ea typeface="Calibri" pitchFamily="34" charset="-122"/>
                          <a:cs typeface="Calibri" pitchFamily="34" charset="-120"/>
                        </a:rPr>
                        <a:t>SilverSneakers / Silver&amp;Fit</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EFE7D6"/>
                    </a:solidFill>
                  </a:tcPr>
                </a:tc>
                <a:tc>
                  <a:txBody>
                    <a:bodyPr/>
                    <a:lstStyle/>
                    <a:p>
                      <a:pPr indent="0" marL="0">
                        <a:buNone/>
                      </a:pPr>
                      <a:r>
                        <a:rPr lang="en-US" sz="1200" dirty="0">
                          <a:solidFill>
                            <a:srgbClr val="1C2630"/>
                          </a:solidFill>
                          <a:latin typeface="Calibri" pitchFamily="34" charset="0"/>
                          <a:ea typeface="Calibri" pitchFamily="34" charset="-122"/>
                          <a:cs typeface="Calibri" pitchFamily="34" charset="-120"/>
                        </a:rPr>
                        <a:t>Gym &amp; class access via Medicare plans</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EFE7D6"/>
                    </a:solidFill>
                  </a:tcPr>
                </a:tc>
                <a:tc>
                  <a:txBody>
                    <a:bodyPr/>
                    <a:lstStyle/>
                    <a:p>
                      <a:pPr indent="0" marL="0">
                        <a:buNone/>
                      </a:pPr>
                      <a:r>
                        <a:rPr lang="en-US" sz="1200" dirty="0">
                          <a:solidFill>
                            <a:srgbClr val="1C2630"/>
                          </a:solidFill>
                          <a:latin typeface="Calibri" pitchFamily="34" charset="0"/>
                          <a:ea typeface="Calibri" pitchFamily="34" charset="-122"/>
                          <a:cs typeface="Calibri" pitchFamily="34" charset="-120"/>
                        </a:rPr>
                        <a:t>Fitness mainly, electives need qualification, less holistic, less experiential</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EFE7D6"/>
                    </a:solidFill>
                  </a:tcPr>
                </a:tc>
              </a:tr>
              <a:tr h="713232">
                <a:tc>
                  <a:txBody>
                    <a:bodyPr/>
                    <a:lstStyle/>
                    <a:p>
                      <a:pPr indent="0" marL="0">
                        <a:buNone/>
                      </a:pPr>
                      <a:r>
                        <a:rPr lang="en-US" sz="1200" b="1" dirty="0">
                          <a:solidFill>
                            <a:srgbClr val="F7F1E4"/>
                          </a:solidFill>
                          <a:latin typeface="Calibri" pitchFamily="34" charset="0"/>
                          <a:ea typeface="Calibri" pitchFamily="34" charset="-122"/>
                          <a:cs typeface="Calibri" pitchFamily="34" charset="-120"/>
                        </a:rPr>
                        <a:t>Saunterby</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C6416F"/>
                    </a:solidFill>
                  </a:tcPr>
                </a:tc>
                <a:tc>
                  <a:txBody>
                    <a:bodyPr/>
                    <a:lstStyle/>
                    <a:p>
                      <a:pPr indent="0" marL="0">
                        <a:buNone/>
                      </a:pPr>
                      <a:r>
                        <a:rPr lang="en-US" sz="1200" dirty="0">
                          <a:solidFill>
                            <a:srgbClr val="F7F1E4"/>
                          </a:solidFill>
                          <a:latin typeface="Calibri" pitchFamily="34" charset="0"/>
                          <a:ea typeface="Calibri" pitchFamily="34" charset="-122"/>
                          <a:cs typeface="Calibri" pitchFamily="34" charset="-120"/>
                        </a:rPr>
                        <a:t>Curated experiences + transportation + benefit navigation</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C6416F"/>
                    </a:solidFill>
                  </a:tcPr>
                </a:tc>
                <a:tc>
                  <a:txBody>
                    <a:bodyPr/>
                    <a:lstStyle/>
                    <a:p>
                      <a:pPr indent="0" marL="0">
                        <a:buNone/>
                      </a:pPr>
                      <a:r>
                        <a:rPr lang="en-US" sz="1200" dirty="0">
                          <a:solidFill>
                            <a:srgbClr val="F7F1E4"/>
                          </a:solidFill>
                          <a:latin typeface="Calibri" pitchFamily="34" charset="0"/>
                          <a:ea typeface="Calibri" pitchFamily="34" charset="-122"/>
                          <a:cs typeface="Calibri" pitchFamily="34" charset="-120"/>
                        </a:rPr>
                        <a:t>The connective layer across all of the above</a:t>
                      </a:r>
                      <a:endParaRPr lang="en-US" sz="1200" dirty="0">
                        <a:latin typeface="Calibri" charset="0"/>
                        <a:ea typeface="Calibri" charset="0"/>
                        <a:cs typeface="Calibri" charset="0"/>
                      </a:endParaRPr>
                    </a:p>
                  </a:txBody>
                  <a:tcPr marL="127000" marR="127000" marT="76200" marB="76200" anchor="ctr">
                    <a:lnL w="6350" cap="flat" cmpd="sng" algn="ctr">
                      <a:solidFill>
                        <a:srgbClr val="E9E0CC"/>
                      </a:solidFill>
                      <a:prstDash val="solid"/>
                      <a:round/>
                      <a:headEnd type="none" w="med" len="med"/>
                      <a:tailEnd type="none" w="med" len="med"/>
                    </a:lnL>
                    <a:lnR w="6350" cap="flat" cmpd="sng" algn="ctr">
                      <a:solidFill>
                        <a:srgbClr val="E9E0CC"/>
                      </a:solidFill>
                      <a:prstDash val="solid"/>
                      <a:round/>
                      <a:headEnd type="none" w="med" len="med"/>
                      <a:tailEnd type="none" w="med" len="med"/>
                    </a:lnR>
                    <a:lnT w="6350" cap="flat" cmpd="sng" algn="ctr">
                      <a:solidFill>
                        <a:srgbClr val="E9E0CC"/>
                      </a:solidFill>
                      <a:prstDash val="solid"/>
                      <a:round/>
                      <a:headEnd type="none" w="med" len="med"/>
                      <a:tailEnd type="none" w="med" len="med"/>
                    </a:lnT>
                    <a:lnB w="6350" cap="flat" cmpd="sng" algn="ctr">
                      <a:solidFill>
                        <a:srgbClr val="E9E0CC"/>
                      </a:solidFill>
                      <a:prstDash val="solid"/>
                      <a:round/>
                      <a:headEnd type="none" w="med" len="med"/>
                      <a:tailEnd type="none" w="med" len="med"/>
                    </a:lnB>
                    <a:solidFill>
                      <a:srgbClr val="C6416F"/>
                    </a:solidFill>
                  </a:tcPr>
                </a:tc>
              </a:tr>
            </a:tbl>
          </a:graphicData>
        </a:graphic>
      </p:graphicFrame>
      <p:sp>
        <p:nvSpPr>
          <p:cNvPr id="5" name="Text 2"/>
          <p:cNvSpPr/>
          <p:nvPr/>
        </p:nvSpPr>
        <p:spPr>
          <a:xfrm>
            <a:off x="10972800" y="6355080"/>
            <a:ext cx="91440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04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62B29"/>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200" b="1" spc="200" kern="0" dirty="0">
                <a:solidFill>
                  <a:srgbClr val="8CA37E"/>
                </a:solidFill>
                <a:latin typeface="Calibri" pitchFamily="34" charset="0"/>
                <a:ea typeface="Calibri" pitchFamily="34" charset="-122"/>
                <a:cs typeface="Calibri" pitchFamily="34" charset="-120"/>
              </a:rPr>
              <a:t>MARKET OPPORTUNITY</a:t>
            </a:r>
            <a:endParaRPr lang="en-US" sz="1200" dirty="0"/>
          </a:p>
        </p:txBody>
      </p:sp>
      <p:sp>
        <p:nvSpPr>
          <p:cNvPr id="3" name="Text 1"/>
          <p:cNvSpPr/>
          <p:nvPr/>
        </p:nvSpPr>
        <p:spPr>
          <a:xfrm>
            <a:off x="640080" y="868680"/>
            <a:ext cx="10515600" cy="822960"/>
          </a:xfrm>
          <a:prstGeom prst="rect">
            <a:avLst/>
          </a:prstGeom>
          <a:noFill/>
          <a:ln/>
        </p:spPr>
        <p:txBody>
          <a:bodyPr wrap="square" lIns="0" tIns="0" rIns="0" bIns="0" rtlCol="0" anchor="ctr"/>
          <a:lstStyle/>
          <a:p>
            <a:pPr indent="0" marL="0">
              <a:buNone/>
            </a:pPr>
            <a:r>
              <a:rPr lang="en-US" sz="3000" b="1" dirty="0">
                <a:solidFill>
                  <a:srgbClr val="F7F1E4"/>
                </a:solidFill>
                <a:latin typeface="Cambria" pitchFamily="34" charset="0"/>
                <a:ea typeface="Cambria" pitchFamily="34" charset="-122"/>
                <a:cs typeface="Cambria" pitchFamily="34" charset="-120"/>
              </a:rPr>
              <a:t>A massive, underserved category.</a:t>
            </a:r>
            <a:endParaRPr lang="en-US" sz="3000" dirty="0"/>
          </a:p>
        </p:txBody>
      </p:sp>
      <p:sp>
        <p:nvSpPr>
          <p:cNvPr id="4" name="Shape 2"/>
          <p:cNvSpPr/>
          <p:nvPr/>
        </p:nvSpPr>
        <p:spPr>
          <a:xfrm>
            <a:off x="640080" y="2286000"/>
            <a:ext cx="3429000" cy="3017520"/>
          </a:xfrm>
          <a:prstGeom prst="roundRect">
            <a:avLst>
              <a:gd name="adj" fmla="val 2424"/>
            </a:avLst>
          </a:prstGeom>
          <a:solidFill>
            <a:srgbClr val="313836"/>
          </a:solidFill>
          <a:ln/>
        </p:spPr>
      </p:sp>
      <p:sp>
        <p:nvSpPr>
          <p:cNvPr id="5" name="Text 3"/>
          <p:cNvSpPr/>
          <p:nvPr/>
        </p:nvSpPr>
        <p:spPr>
          <a:xfrm>
            <a:off x="914400" y="2606040"/>
            <a:ext cx="2880360" cy="822960"/>
          </a:xfrm>
          <a:prstGeom prst="rect">
            <a:avLst/>
          </a:prstGeom>
          <a:noFill/>
          <a:ln/>
        </p:spPr>
        <p:txBody>
          <a:bodyPr wrap="square" lIns="0" tIns="0" rIns="0" bIns="0" rtlCol="0" anchor="ctr"/>
          <a:lstStyle/>
          <a:p>
            <a:pPr indent="0" marL="0">
              <a:buNone/>
            </a:pPr>
            <a:r>
              <a:rPr lang="en-US" sz="4000" b="1" dirty="0">
                <a:solidFill>
                  <a:srgbClr val="C6416F"/>
                </a:solidFill>
                <a:latin typeface="Cambria" pitchFamily="34" charset="0"/>
                <a:ea typeface="Cambria" pitchFamily="34" charset="-122"/>
                <a:cs typeface="Cambria" pitchFamily="34" charset="-120"/>
              </a:rPr>
              <a:t>$45T+</a:t>
            </a:r>
            <a:endParaRPr lang="en-US" sz="4000" dirty="0"/>
          </a:p>
        </p:txBody>
      </p:sp>
      <p:sp>
        <p:nvSpPr>
          <p:cNvPr id="6" name="Text 4"/>
          <p:cNvSpPr/>
          <p:nvPr/>
        </p:nvSpPr>
        <p:spPr>
          <a:xfrm>
            <a:off x="914400" y="3566160"/>
            <a:ext cx="2880360" cy="1463040"/>
          </a:xfrm>
          <a:prstGeom prst="rect">
            <a:avLst/>
          </a:prstGeom>
          <a:noFill/>
          <a:ln/>
        </p:spPr>
        <p:txBody>
          <a:bodyPr wrap="square" lIns="0" tIns="0" rIns="0" bIns="0" rtlCol="0" anchor="t"/>
          <a:lstStyle/>
          <a:p>
            <a:pPr indent="0" marL="0">
              <a:buNone/>
            </a:pPr>
            <a:r>
              <a:rPr lang="en-US" sz="1250" dirty="0">
                <a:solidFill>
                  <a:srgbClr val="C9C2B4"/>
                </a:solidFill>
                <a:latin typeface="Calibri" pitchFamily="34" charset="0"/>
                <a:ea typeface="Calibri" pitchFamily="34" charset="-122"/>
                <a:cs typeface="Calibri" pitchFamily="34" charset="-120"/>
              </a:rPr>
              <a:t>Global longevity economy contributed by people 50+ (2020), projected to reach $118T by 2050</a:t>
            </a:r>
            <a:endParaRPr lang="en-US" sz="1250" dirty="0"/>
          </a:p>
        </p:txBody>
      </p:sp>
      <p:sp>
        <p:nvSpPr>
          <p:cNvPr id="7" name="Shape 5"/>
          <p:cNvSpPr/>
          <p:nvPr/>
        </p:nvSpPr>
        <p:spPr>
          <a:xfrm>
            <a:off x="4389120" y="2286000"/>
            <a:ext cx="3429000" cy="3017520"/>
          </a:xfrm>
          <a:prstGeom prst="roundRect">
            <a:avLst>
              <a:gd name="adj" fmla="val 2424"/>
            </a:avLst>
          </a:prstGeom>
          <a:solidFill>
            <a:srgbClr val="313836"/>
          </a:solidFill>
          <a:ln/>
        </p:spPr>
      </p:sp>
      <p:sp>
        <p:nvSpPr>
          <p:cNvPr id="8" name="Text 6"/>
          <p:cNvSpPr/>
          <p:nvPr/>
        </p:nvSpPr>
        <p:spPr>
          <a:xfrm>
            <a:off x="4663440" y="2606040"/>
            <a:ext cx="2880360" cy="822960"/>
          </a:xfrm>
          <a:prstGeom prst="rect">
            <a:avLst/>
          </a:prstGeom>
          <a:noFill/>
          <a:ln/>
        </p:spPr>
        <p:txBody>
          <a:bodyPr wrap="square" lIns="0" tIns="0" rIns="0" bIns="0" rtlCol="0" anchor="ctr"/>
          <a:lstStyle/>
          <a:p>
            <a:pPr indent="0" marL="0">
              <a:buNone/>
            </a:pPr>
            <a:r>
              <a:rPr lang="en-US" sz="4000" b="1" dirty="0">
                <a:solidFill>
                  <a:srgbClr val="C6416F"/>
                </a:solidFill>
                <a:latin typeface="Cambria" pitchFamily="34" charset="0"/>
                <a:ea typeface="Cambria" pitchFamily="34" charset="-122"/>
                <a:cs typeface="Cambria" pitchFamily="34" charset="-120"/>
              </a:rPr>
              <a:t>700+</a:t>
            </a:r>
            <a:endParaRPr lang="en-US" sz="4000" dirty="0"/>
          </a:p>
        </p:txBody>
      </p:sp>
      <p:sp>
        <p:nvSpPr>
          <p:cNvPr id="9" name="Text 7"/>
          <p:cNvSpPr/>
          <p:nvPr/>
        </p:nvSpPr>
        <p:spPr>
          <a:xfrm>
            <a:off x="4663440" y="3566160"/>
            <a:ext cx="2880360" cy="1463040"/>
          </a:xfrm>
          <a:prstGeom prst="rect">
            <a:avLst/>
          </a:prstGeom>
          <a:noFill/>
          <a:ln/>
        </p:spPr>
        <p:txBody>
          <a:bodyPr wrap="square" lIns="0" tIns="0" rIns="0" bIns="0" rtlCol="0" anchor="t"/>
          <a:lstStyle/>
          <a:p>
            <a:pPr indent="0" marL="0">
              <a:buNone/>
            </a:pPr>
            <a:r>
              <a:rPr lang="en-US" sz="1250" dirty="0">
                <a:solidFill>
                  <a:srgbClr val="C9C2B4"/>
                </a:solidFill>
                <a:latin typeface="Calibri" pitchFamily="34" charset="0"/>
                <a:ea typeface="Calibri" pitchFamily="34" charset="-122"/>
                <a:cs typeface="Calibri" pitchFamily="34" charset="-120"/>
              </a:rPr>
              <a:t>Companies now active in the AgeTech Collaborative ecosystem alone</a:t>
            </a:r>
            <a:endParaRPr lang="en-US" sz="1250" dirty="0"/>
          </a:p>
        </p:txBody>
      </p:sp>
      <p:sp>
        <p:nvSpPr>
          <p:cNvPr id="10" name="Shape 8"/>
          <p:cNvSpPr/>
          <p:nvPr/>
        </p:nvSpPr>
        <p:spPr>
          <a:xfrm>
            <a:off x="8138160" y="2286000"/>
            <a:ext cx="3429000" cy="3017520"/>
          </a:xfrm>
          <a:prstGeom prst="roundRect">
            <a:avLst>
              <a:gd name="adj" fmla="val 2424"/>
            </a:avLst>
          </a:prstGeom>
          <a:solidFill>
            <a:srgbClr val="313836"/>
          </a:solidFill>
          <a:ln/>
        </p:spPr>
      </p:sp>
      <p:sp>
        <p:nvSpPr>
          <p:cNvPr id="11" name="Text 9"/>
          <p:cNvSpPr/>
          <p:nvPr/>
        </p:nvSpPr>
        <p:spPr>
          <a:xfrm>
            <a:off x="8412480" y="2606040"/>
            <a:ext cx="2880360" cy="822960"/>
          </a:xfrm>
          <a:prstGeom prst="rect">
            <a:avLst/>
          </a:prstGeom>
          <a:noFill/>
          <a:ln/>
        </p:spPr>
        <p:txBody>
          <a:bodyPr wrap="square" lIns="0" tIns="0" rIns="0" bIns="0" rtlCol="0" anchor="ctr"/>
          <a:lstStyle/>
          <a:p>
            <a:pPr indent="0" marL="0">
              <a:buNone/>
            </a:pPr>
            <a:r>
              <a:rPr lang="en-US" sz="4000" b="1" dirty="0">
                <a:solidFill>
                  <a:srgbClr val="C6416F"/>
                </a:solidFill>
                <a:latin typeface="Cambria" pitchFamily="34" charset="0"/>
                <a:ea typeface="Cambria" pitchFamily="34" charset="-122"/>
                <a:cs typeface="Cambria" pitchFamily="34" charset="-120"/>
              </a:rPr>
              <a:t>12,000</a:t>
            </a:r>
            <a:endParaRPr lang="en-US" sz="4000" dirty="0"/>
          </a:p>
        </p:txBody>
      </p:sp>
      <p:sp>
        <p:nvSpPr>
          <p:cNvPr id="12" name="Text 10"/>
          <p:cNvSpPr/>
          <p:nvPr/>
        </p:nvSpPr>
        <p:spPr>
          <a:xfrm>
            <a:off x="8412480" y="3566160"/>
            <a:ext cx="2880360" cy="1463040"/>
          </a:xfrm>
          <a:prstGeom prst="rect">
            <a:avLst/>
          </a:prstGeom>
          <a:noFill/>
          <a:ln/>
        </p:spPr>
        <p:txBody>
          <a:bodyPr wrap="square" lIns="0" tIns="0" rIns="0" bIns="0" rtlCol="0" anchor="t"/>
          <a:lstStyle/>
          <a:p>
            <a:pPr indent="0" marL="0">
              <a:buNone/>
            </a:pPr>
            <a:r>
              <a:rPr lang="en-US" sz="1250" dirty="0">
                <a:solidFill>
                  <a:srgbClr val="C9C2B4"/>
                </a:solidFill>
                <a:latin typeface="Calibri" pitchFamily="34" charset="0"/>
                <a:ea typeface="Calibri" pitchFamily="34" charset="-122"/>
                <a:cs typeface="Calibri" pitchFamily="34" charset="-120"/>
              </a:rPr>
              <a:t>People turn 65 in the U.S. every single day</a:t>
            </a:r>
            <a:endParaRPr lang="en-US" sz="1250" dirty="0"/>
          </a:p>
        </p:txBody>
      </p:sp>
      <p:sp>
        <p:nvSpPr>
          <p:cNvPr id="13" name="Text 11"/>
          <p:cNvSpPr/>
          <p:nvPr/>
        </p:nvSpPr>
        <p:spPr>
          <a:xfrm>
            <a:off x="640080" y="5623560"/>
            <a:ext cx="10515600" cy="320040"/>
          </a:xfrm>
          <a:prstGeom prst="rect">
            <a:avLst/>
          </a:prstGeom>
          <a:noFill/>
          <a:ln/>
        </p:spPr>
        <p:txBody>
          <a:bodyPr wrap="square" lIns="0" tIns="0" rIns="0" bIns="0" rtlCol="0" anchor="ctr"/>
          <a:lstStyle/>
          <a:p>
            <a:pPr indent="0" marL="0">
              <a:buNone/>
            </a:pPr>
            <a:r>
              <a:rPr lang="en-US" sz="950" i="1" dirty="0">
                <a:solidFill>
                  <a:srgbClr val="8C8C8C"/>
                </a:solidFill>
                <a:latin typeface="Calibri" pitchFamily="34" charset="0"/>
                <a:ea typeface="Calibri" pitchFamily="34" charset="-122"/>
                <a:cs typeface="Calibri" pitchFamily="34" charset="-120"/>
              </a:rPr>
              <a:t>Sources: AARP longevity economy research; AgeTech Collaborative CES 2026 press materials.</a:t>
            </a:r>
            <a:endParaRPr lang="en-US" sz="950" dirty="0"/>
          </a:p>
        </p:txBody>
      </p:sp>
      <p:sp>
        <p:nvSpPr>
          <p:cNvPr id="14" name="Text 12"/>
          <p:cNvSpPr/>
          <p:nvPr/>
        </p:nvSpPr>
        <p:spPr>
          <a:xfrm>
            <a:off x="10972800" y="6355080"/>
            <a:ext cx="91440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05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CDD"/>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200" b="1" spc="200" kern="0" dirty="0">
                <a:solidFill>
                  <a:srgbClr val="C6416F"/>
                </a:solidFill>
                <a:latin typeface="Calibri" pitchFamily="34" charset="0"/>
                <a:ea typeface="Calibri" pitchFamily="34" charset="-122"/>
                <a:cs typeface="Calibri" pitchFamily="34" charset="-120"/>
              </a:rPr>
              <a:t>TARGET CUSTOMER</a:t>
            </a:r>
            <a:endParaRPr lang="en-US" sz="1200" dirty="0"/>
          </a:p>
        </p:txBody>
      </p:sp>
      <p:sp>
        <p:nvSpPr>
          <p:cNvPr id="3" name="Text 1"/>
          <p:cNvSpPr/>
          <p:nvPr/>
        </p:nvSpPr>
        <p:spPr>
          <a:xfrm>
            <a:off x="640080" y="868680"/>
            <a:ext cx="10515600" cy="822960"/>
          </a:xfrm>
          <a:prstGeom prst="rect">
            <a:avLst/>
          </a:prstGeom>
          <a:noFill/>
          <a:ln/>
        </p:spPr>
        <p:txBody>
          <a:bodyPr wrap="square" lIns="0" tIns="0" rIns="0" bIns="0" rtlCol="0" anchor="ctr"/>
          <a:lstStyle/>
          <a:p>
            <a:pPr indent="0" marL="0">
              <a:buNone/>
            </a:pPr>
            <a:r>
              <a:rPr lang="en-US" sz="3000" b="1" dirty="0">
                <a:solidFill>
                  <a:srgbClr val="1C2630"/>
                </a:solidFill>
                <a:latin typeface="Cambria" pitchFamily="34" charset="0"/>
                <a:ea typeface="Cambria" pitchFamily="34" charset="-122"/>
                <a:cs typeface="Cambria" pitchFamily="34" charset="-120"/>
              </a:rPr>
              <a:t>Active by nature, not by permission.</a:t>
            </a:r>
            <a:endParaRPr lang="en-US" sz="3000" dirty="0"/>
          </a:p>
        </p:txBody>
      </p:sp>
      <p:sp>
        <p:nvSpPr>
          <p:cNvPr id="4" name="Shape 2"/>
          <p:cNvSpPr/>
          <p:nvPr/>
        </p:nvSpPr>
        <p:spPr>
          <a:xfrm>
            <a:off x="640080" y="1920240"/>
            <a:ext cx="777240" cy="777240"/>
          </a:xfrm>
          <a:prstGeom prst="ellipse">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842162" y="2122322"/>
            <a:ext cx="373075" cy="373075"/>
          </a:xfrm>
          <a:prstGeom prst="rect">
            <a:avLst/>
          </a:prstGeom>
        </p:spPr>
      </p:pic>
      <p:sp>
        <p:nvSpPr>
          <p:cNvPr id="6" name="Text 3"/>
          <p:cNvSpPr/>
          <p:nvPr/>
        </p:nvSpPr>
        <p:spPr>
          <a:xfrm>
            <a:off x="1691640" y="1920240"/>
            <a:ext cx="4937760" cy="2103120"/>
          </a:xfrm>
          <a:prstGeom prst="rect">
            <a:avLst/>
          </a:prstGeom>
          <a:noFill/>
          <a:ln/>
        </p:spPr>
        <p:txBody>
          <a:bodyPr wrap="square" lIns="0" tIns="0" rIns="0" bIns="0" rtlCol="0" anchor="t"/>
          <a:lstStyle/>
          <a:p>
            <a:pPr indent="0" marL="0">
              <a:buNone/>
            </a:pPr>
            <a:r>
              <a:rPr lang="en-US" sz="1450" dirty="0">
                <a:solidFill>
                  <a:srgbClr val="1C2630"/>
                </a:solidFill>
                <a:latin typeface="Calibri" pitchFamily="34" charset="0"/>
                <a:ea typeface="Calibri" pitchFamily="34" charset="-122"/>
                <a:cs typeface="Calibri" pitchFamily="34" charset="-120"/>
              </a:rPr>
              <a:t>Adults 55+ who want to stay socially and physically engaged — whether or not they're managing a health condition. Many already hold benefits (Medicare wellness cards, SilverSneakers, ClassPass) but have no single place to use them for something fun.</a:t>
            </a:r>
            <a:endParaRPr lang="en-US" sz="1450" dirty="0"/>
          </a:p>
        </p:txBody>
      </p:sp>
      <p:sp>
        <p:nvSpPr>
          <p:cNvPr id="7" name="Shape 4"/>
          <p:cNvSpPr/>
          <p:nvPr/>
        </p:nvSpPr>
        <p:spPr>
          <a:xfrm>
            <a:off x="7040880" y="1828800"/>
            <a:ext cx="4480560" cy="3291840"/>
          </a:xfrm>
          <a:prstGeom prst="roundRect">
            <a:avLst>
              <a:gd name="adj" fmla="val 2222"/>
            </a:avLst>
          </a:prstGeom>
          <a:solidFill>
            <a:srgbClr val="262B29"/>
          </a:solidFill>
          <a:ln/>
          <a:effectLst>
            <a:outerShdw sx="100000" sy="100000" kx="0" ky="0" algn="bl" rotWithShape="0" blurRad="127000" dist="38100" dir="2700000">
              <a:srgbClr val="000000">
                <a:alpha val="15000"/>
              </a:srgbClr>
            </a:outerShdw>
          </a:effectLst>
        </p:spPr>
      </p:sp>
      <p:sp>
        <p:nvSpPr>
          <p:cNvPr id="8" name="Text 5"/>
          <p:cNvSpPr/>
          <p:nvPr/>
        </p:nvSpPr>
        <p:spPr>
          <a:xfrm>
            <a:off x="7406640" y="2103120"/>
            <a:ext cx="3749040" cy="457200"/>
          </a:xfrm>
          <a:prstGeom prst="rect">
            <a:avLst/>
          </a:prstGeom>
          <a:noFill/>
          <a:ln/>
        </p:spPr>
        <p:txBody>
          <a:bodyPr wrap="square" lIns="0" tIns="0" rIns="0" bIns="0" rtlCol="0" anchor="ctr"/>
          <a:lstStyle/>
          <a:p>
            <a:pPr indent="0" marL="0">
              <a:buNone/>
            </a:pPr>
            <a:r>
              <a:rPr lang="en-US" sz="1400" b="1" dirty="0">
                <a:solidFill>
                  <a:srgbClr val="F7F1E4"/>
                </a:solidFill>
                <a:latin typeface="Cambria" pitchFamily="34" charset="0"/>
                <a:ea typeface="Cambria" pitchFamily="34" charset="-122"/>
                <a:cs typeface="Cambria" pitchFamily="34" charset="-120"/>
              </a:rPr>
              <a:t>Launch market: Southern California</a:t>
            </a:r>
            <a:endParaRPr lang="en-US" sz="1400" dirty="0"/>
          </a:p>
        </p:txBody>
      </p:sp>
      <p:sp>
        <p:nvSpPr>
          <p:cNvPr id="9" name="Text 6"/>
          <p:cNvSpPr/>
          <p:nvPr/>
        </p:nvSpPr>
        <p:spPr>
          <a:xfrm>
            <a:off x="7406640" y="2697480"/>
            <a:ext cx="3749040" cy="219456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D8D2C2"/>
                </a:solidFill>
                <a:latin typeface="Calibri" pitchFamily="34" charset="0"/>
                <a:ea typeface="Calibri" pitchFamily="34" charset="-122"/>
                <a:cs typeface="Calibri" pitchFamily="34" charset="-120"/>
              </a:rPr>
              <a:t>Urban and rural members — vetted transportation for both</a:t>
            </a:r>
            <a:endParaRPr lang="en-US" sz="1200" dirty="0"/>
          </a:p>
          <a:p>
            <a:pPr marL="342900" indent="-342900">
              <a:spcAft>
                <a:spcPts val="800"/>
              </a:spcAft>
              <a:buSzPct val="100000"/>
              <a:buChar char="•"/>
            </a:pPr>
            <a:r>
              <a:rPr lang="en-US" sz="1200" dirty="0">
                <a:solidFill>
                  <a:srgbClr val="D8D2C2"/>
                </a:solidFill>
                <a:latin typeface="Calibri" pitchFamily="34" charset="0"/>
                <a:ea typeface="Calibri" pitchFamily="34" charset="-122"/>
                <a:cs typeface="Calibri" pitchFamily="34" charset="-120"/>
              </a:rPr>
              <a:t>Fixed-income and flexible-spend members alike (Set Plan / Open Plan)</a:t>
            </a:r>
            <a:endParaRPr lang="en-US" sz="1200" dirty="0"/>
          </a:p>
          <a:p>
            <a:pPr marL="342900" indent="-342900">
              <a:spcAft>
                <a:spcPts val="800"/>
              </a:spcAft>
              <a:buSzPct val="100000"/>
              <a:buChar char="•"/>
            </a:pPr>
            <a:r>
              <a:rPr lang="en-US" sz="1200" dirty="0">
                <a:solidFill>
                  <a:srgbClr val="D8D2C2"/>
                </a:solidFill>
                <a:latin typeface="Calibri" pitchFamily="34" charset="0"/>
                <a:ea typeface="Calibri" pitchFamily="34" charset="-122"/>
                <a:cs typeface="Calibri" pitchFamily="34" charset="-120"/>
              </a:rPr>
              <a:t>Members managing a health condition, and members who aren't</a:t>
            </a:r>
            <a:endParaRPr lang="en-US" sz="1200" dirty="0"/>
          </a:p>
          <a:p>
            <a:pPr marL="342900" indent="-342900">
              <a:spcAft>
                <a:spcPts val="800"/>
              </a:spcAft>
              <a:buSzPct val="100000"/>
              <a:buChar char="•"/>
            </a:pPr>
            <a:r>
              <a:rPr lang="en-US" sz="1200" dirty="0">
                <a:solidFill>
                  <a:srgbClr val="D8D2C2"/>
                </a:solidFill>
                <a:latin typeface="Calibri" pitchFamily="34" charset="0"/>
                <a:ea typeface="Calibri" pitchFamily="34" charset="-122"/>
                <a:cs typeface="Calibri" pitchFamily="34" charset="-120"/>
              </a:rPr>
              <a:t>Family, friends, and care partners welcome at any age</a:t>
            </a:r>
            <a:endParaRPr lang="en-US" sz="1200" dirty="0"/>
          </a:p>
        </p:txBody>
      </p:sp>
      <p:sp>
        <p:nvSpPr>
          <p:cNvPr id="10" name="Text 7"/>
          <p:cNvSpPr/>
          <p:nvPr/>
        </p:nvSpPr>
        <p:spPr>
          <a:xfrm>
            <a:off x="10972800" y="6355080"/>
            <a:ext cx="91440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06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B29"/>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200" b="1" spc="200" kern="0" dirty="0">
                <a:solidFill>
                  <a:srgbClr val="8CA37E"/>
                </a:solidFill>
                <a:latin typeface="Calibri" pitchFamily="34" charset="0"/>
                <a:ea typeface="Calibri" pitchFamily="34" charset="-122"/>
                <a:cs typeface="Calibri" pitchFamily="34" charset="-120"/>
              </a:rPr>
              <a:t>TRACTION</a:t>
            </a:r>
            <a:endParaRPr lang="en-US" sz="1200" dirty="0"/>
          </a:p>
        </p:txBody>
      </p:sp>
      <p:sp>
        <p:nvSpPr>
          <p:cNvPr id="3" name="Text 1"/>
          <p:cNvSpPr/>
          <p:nvPr/>
        </p:nvSpPr>
        <p:spPr>
          <a:xfrm>
            <a:off x="640080" y="868680"/>
            <a:ext cx="10515600" cy="822960"/>
          </a:xfrm>
          <a:prstGeom prst="rect">
            <a:avLst/>
          </a:prstGeom>
          <a:noFill/>
          <a:ln/>
        </p:spPr>
        <p:txBody>
          <a:bodyPr wrap="square" lIns="0" tIns="0" rIns="0" bIns="0" rtlCol="0" anchor="ctr"/>
          <a:lstStyle/>
          <a:p>
            <a:pPr indent="0" marL="0">
              <a:buNone/>
            </a:pPr>
            <a:r>
              <a:rPr lang="en-US" sz="3000" b="1" dirty="0">
                <a:solidFill>
                  <a:srgbClr val="F7F1E4"/>
                </a:solidFill>
                <a:latin typeface="Cambria" pitchFamily="34" charset="0"/>
                <a:ea typeface="Cambria" pitchFamily="34" charset="-122"/>
                <a:cs typeface="Cambria" pitchFamily="34" charset="-120"/>
              </a:rPr>
              <a:t>Early, real, and growing.</a:t>
            </a:r>
            <a:endParaRPr lang="en-US" sz="3000" dirty="0"/>
          </a:p>
        </p:txBody>
      </p:sp>
      <p:sp>
        <p:nvSpPr>
          <p:cNvPr id="4" name="Shape 2"/>
          <p:cNvSpPr/>
          <p:nvPr/>
        </p:nvSpPr>
        <p:spPr>
          <a:xfrm>
            <a:off x="640080" y="2011680"/>
            <a:ext cx="3429000" cy="1737360"/>
          </a:xfrm>
          <a:prstGeom prst="roundRect">
            <a:avLst>
              <a:gd name="adj" fmla="val 4211"/>
            </a:avLst>
          </a:prstGeom>
          <a:solidFill>
            <a:srgbClr val="313836"/>
          </a:solidFill>
          <a:ln/>
        </p:spPr>
      </p:sp>
      <p:sp>
        <p:nvSpPr>
          <p:cNvPr id="5" name="Text 3"/>
          <p:cNvSpPr/>
          <p:nvPr/>
        </p:nvSpPr>
        <p:spPr>
          <a:xfrm>
            <a:off x="914400" y="2194560"/>
            <a:ext cx="2880360" cy="777240"/>
          </a:xfrm>
          <a:prstGeom prst="rect">
            <a:avLst/>
          </a:prstGeom>
          <a:noFill/>
          <a:ln/>
        </p:spPr>
        <p:txBody>
          <a:bodyPr wrap="square" lIns="0" tIns="0" rIns="0" bIns="0" rtlCol="0" anchor="ctr"/>
          <a:lstStyle/>
          <a:p>
            <a:pPr indent="0" marL="0">
              <a:buNone/>
            </a:pPr>
            <a:r>
              <a:rPr lang="en-US" sz="3400" b="1" dirty="0">
                <a:solidFill>
                  <a:srgbClr val="C6416F"/>
                </a:solidFill>
                <a:latin typeface="Cambria" pitchFamily="34" charset="0"/>
                <a:ea typeface="Cambria" pitchFamily="34" charset="-122"/>
                <a:cs typeface="Cambria" pitchFamily="34" charset="-120"/>
              </a:rPr>
              <a:t>Early</a:t>
            </a:r>
            <a:endParaRPr lang="en-US" sz="3400" dirty="0"/>
          </a:p>
        </p:txBody>
      </p:sp>
      <p:sp>
        <p:nvSpPr>
          <p:cNvPr id="6" name="Text 4"/>
          <p:cNvSpPr/>
          <p:nvPr/>
        </p:nvSpPr>
        <p:spPr>
          <a:xfrm>
            <a:off x="914400" y="2971800"/>
            <a:ext cx="2880360" cy="640080"/>
          </a:xfrm>
          <a:prstGeom prst="rect">
            <a:avLst/>
          </a:prstGeom>
          <a:noFill/>
          <a:ln/>
        </p:spPr>
        <p:txBody>
          <a:bodyPr wrap="square" lIns="0" tIns="0" rIns="0" bIns="0" rtlCol="0" anchor="ctr"/>
          <a:lstStyle/>
          <a:p>
            <a:pPr indent="0" marL="0">
              <a:buNone/>
            </a:pPr>
            <a:r>
              <a:rPr lang="en-US" sz="1200" dirty="0">
                <a:solidFill>
                  <a:srgbClr val="C9C2B4"/>
                </a:solidFill>
                <a:latin typeface="Calibri" pitchFamily="34" charset="0"/>
                <a:ea typeface="Calibri" pitchFamily="34" charset="-122"/>
                <a:cs typeface="Calibri" pitchFamily="34" charset="-120"/>
              </a:rPr>
              <a:t>Waitlist forming, first signups arriving</a:t>
            </a:r>
            <a:endParaRPr lang="en-US" sz="1200" dirty="0"/>
          </a:p>
        </p:txBody>
      </p:sp>
      <p:sp>
        <p:nvSpPr>
          <p:cNvPr id="7" name="Shape 5"/>
          <p:cNvSpPr/>
          <p:nvPr/>
        </p:nvSpPr>
        <p:spPr>
          <a:xfrm>
            <a:off x="4389120" y="2011680"/>
            <a:ext cx="3429000" cy="1737360"/>
          </a:xfrm>
          <a:prstGeom prst="roundRect">
            <a:avLst>
              <a:gd name="adj" fmla="val 4211"/>
            </a:avLst>
          </a:prstGeom>
          <a:solidFill>
            <a:srgbClr val="313836"/>
          </a:solidFill>
          <a:ln/>
        </p:spPr>
      </p:sp>
      <p:sp>
        <p:nvSpPr>
          <p:cNvPr id="8" name="Text 6"/>
          <p:cNvSpPr/>
          <p:nvPr/>
        </p:nvSpPr>
        <p:spPr>
          <a:xfrm>
            <a:off x="4663440" y="2194560"/>
            <a:ext cx="2880360" cy="777240"/>
          </a:xfrm>
          <a:prstGeom prst="rect">
            <a:avLst/>
          </a:prstGeom>
          <a:noFill/>
          <a:ln/>
        </p:spPr>
        <p:txBody>
          <a:bodyPr wrap="square" lIns="0" tIns="0" rIns="0" bIns="0" rtlCol="0" anchor="ctr"/>
          <a:lstStyle/>
          <a:p>
            <a:pPr indent="0" marL="0">
              <a:buNone/>
            </a:pPr>
            <a:r>
              <a:rPr lang="en-US" sz="3400" b="1" dirty="0">
                <a:solidFill>
                  <a:srgbClr val="C6416F"/>
                </a:solidFill>
                <a:latin typeface="Cambria" pitchFamily="34" charset="0"/>
                <a:ea typeface="Cambria" pitchFamily="34" charset="-122"/>
                <a:cs typeface="Cambria" pitchFamily="34" charset="-120"/>
              </a:rPr>
              <a:t>Talking</a:t>
            </a:r>
            <a:endParaRPr lang="en-US" sz="3400" dirty="0"/>
          </a:p>
        </p:txBody>
      </p:sp>
      <p:sp>
        <p:nvSpPr>
          <p:cNvPr id="9" name="Text 7"/>
          <p:cNvSpPr/>
          <p:nvPr/>
        </p:nvSpPr>
        <p:spPr>
          <a:xfrm>
            <a:off x="4663440" y="2971800"/>
            <a:ext cx="2880360" cy="640080"/>
          </a:xfrm>
          <a:prstGeom prst="rect">
            <a:avLst/>
          </a:prstGeom>
          <a:noFill/>
          <a:ln/>
        </p:spPr>
        <p:txBody>
          <a:bodyPr wrap="square" lIns="0" tIns="0" rIns="0" bIns="0" rtlCol="0" anchor="ctr"/>
          <a:lstStyle/>
          <a:p>
            <a:pPr indent="0" marL="0">
              <a:buNone/>
            </a:pPr>
            <a:r>
              <a:rPr lang="en-US" sz="1200" dirty="0">
                <a:solidFill>
                  <a:srgbClr val="C9C2B4"/>
                </a:solidFill>
                <a:latin typeface="Calibri" pitchFamily="34" charset="0"/>
                <a:ea typeface="Calibri" pitchFamily="34" charset="-122"/>
                <a:cs typeface="Calibri" pitchFamily="34" charset="-120"/>
              </a:rPr>
              <a:t>Ongoing conversations with real consumers about what they want</a:t>
            </a:r>
            <a:endParaRPr lang="en-US" sz="1200" dirty="0"/>
          </a:p>
        </p:txBody>
      </p:sp>
      <p:sp>
        <p:nvSpPr>
          <p:cNvPr id="10" name="Shape 8"/>
          <p:cNvSpPr/>
          <p:nvPr/>
        </p:nvSpPr>
        <p:spPr>
          <a:xfrm>
            <a:off x="8138160" y="2011680"/>
            <a:ext cx="3429000" cy="1737360"/>
          </a:xfrm>
          <a:prstGeom prst="roundRect">
            <a:avLst>
              <a:gd name="adj" fmla="val 4211"/>
            </a:avLst>
          </a:prstGeom>
          <a:solidFill>
            <a:srgbClr val="313836"/>
          </a:solidFill>
          <a:ln/>
        </p:spPr>
      </p:sp>
      <p:sp>
        <p:nvSpPr>
          <p:cNvPr id="11" name="Text 9"/>
          <p:cNvSpPr/>
          <p:nvPr/>
        </p:nvSpPr>
        <p:spPr>
          <a:xfrm>
            <a:off x="8412480" y="2194560"/>
            <a:ext cx="2880360" cy="777240"/>
          </a:xfrm>
          <a:prstGeom prst="rect">
            <a:avLst/>
          </a:prstGeom>
          <a:noFill/>
          <a:ln/>
        </p:spPr>
        <p:txBody>
          <a:bodyPr wrap="square" lIns="0" tIns="0" rIns="0" bIns="0" rtlCol="0" anchor="ctr"/>
          <a:lstStyle/>
          <a:p>
            <a:pPr indent="0" marL="0">
              <a:buNone/>
            </a:pPr>
            <a:r>
              <a:rPr lang="en-US" sz="3400" b="1" dirty="0">
                <a:solidFill>
                  <a:srgbClr val="C6416F"/>
                </a:solidFill>
                <a:latin typeface="Cambria" pitchFamily="34" charset="0"/>
                <a:ea typeface="Cambria" pitchFamily="34" charset="-122"/>
                <a:cs typeface="Cambria" pitchFamily="34" charset="-120"/>
              </a:rPr>
              <a:t>Ready</a:t>
            </a:r>
            <a:endParaRPr lang="en-US" sz="3400" dirty="0"/>
          </a:p>
        </p:txBody>
      </p:sp>
      <p:sp>
        <p:nvSpPr>
          <p:cNvPr id="12" name="Text 10"/>
          <p:cNvSpPr/>
          <p:nvPr/>
        </p:nvSpPr>
        <p:spPr>
          <a:xfrm>
            <a:off x="8412480" y="2971800"/>
            <a:ext cx="2880360" cy="640080"/>
          </a:xfrm>
          <a:prstGeom prst="rect">
            <a:avLst/>
          </a:prstGeom>
          <a:noFill/>
          <a:ln/>
        </p:spPr>
        <p:txBody>
          <a:bodyPr wrap="square" lIns="0" tIns="0" rIns="0" bIns="0" rtlCol="0" anchor="ctr"/>
          <a:lstStyle/>
          <a:p>
            <a:pPr indent="0" marL="0">
              <a:buNone/>
            </a:pPr>
            <a:r>
              <a:rPr lang="en-US" sz="1200" dirty="0">
                <a:solidFill>
                  <a:srgbClr val="C9C2B4"/>
                </a:solidFill>
                <a:latin typeface="Calibri" pitchFamily="34" charset="0"/>
                <a:ea typeface="Calibri" pitchFamily="34" charset="-122"/>
                <a:cs typeface="Calibri" pitchFamily="34" charset="-120"/>
              </a:rPr>
              <a:t>Manual booking process designed and ready to run</a:t>
            </a:r>
            <a:endParaRPr lang="en-US" sz="1200" dirty="0"/>
          </a:p>
        </p:txBody>
      </p:sp>
      <p:sp>
        <p:nvSpPr>
          <p:cNvPr id="13" name="Shape 11"/>
          <p:cNvSpPr/>
          <p:nvPr/>
        </p:nvSpPr>
        <p:spPr>
          <a:xfrm>
            <a:off x="640080" y="3977640"/>
            <a:ext cx="10835640" cy="1691640"/>
          </a:xfrm>
          <a:prstGeom prst="roundRect">
            <a:avLst>
              <a:gd name="adj" fmla="val 4324"/>
            </a:avLst>
          </a:prstGeom>
          <a:solidFill>
            <a:srgbClr val="313836"/>
          </a:solidFill>
          <a:ln/>
        </p:spPr>
      </p:sp>
      <p:sp>
        <p:nvSpPr>
          <p:cNvPr id="14" name="Text 12"/>
          <p:cNvSpPr/>
          <p:nvPr/>
        </p:nvSpPr>
        <p:spPr>
          <a:xfrm>
            <a:off x="960120" y="4206240"/>
            <a:ext cx="3657600" cy="365760"/>
          </a:xfrm>
          <a:prstGeom prst="rect">
            <a:avLst/>
          </a:prstGeom>
          <a:noFill/>
          <a:ln/>
        </p:spPr>
        <p:txBody>
          <a:bodyPr wrap="square" lIns="0" tIns="0" rIns="0" bIns="0" rtlCol="0" anchor="ctr"/>
          <a:lstStyle/>
          <a:p>
            <a:pPr indent="0" marL="0">
              <a:buNone/>
            </a:pPr>
            <a:r>
              <a:rPr lang="en-US" sz="1200" b="1" dirty="0">
                <a:solidFill>
                  <a:srgbClr val="8CA37E"/>
                </a:solidFill>
                <a:latin typeface="Calibri" pitchFamily="34" charset="0"/>
                <a:ea typeface="Calibri" pitchFamily="34" charset="-122"/>
                <a:cs typeface="Calibri" pitchFamily="34" charset="-120"/>
              </a:rPr>
              <a:t>Where we are</a:t>
            </a:r>
            <a:endParaRPr lang="en-US" sz="1200" dirty="0"/>
          </a:p>
        </p:txBody>
      </p:sp>
      <p:sp>
        <p:nvSpPr>
          <p:cNvPr id="15" name="Text 13"/>
          <p:cNvSpPr/>
          <p:nvPr/>
        </p:nvSpPr>
        <p:spPr>
          <a:xfrm>
            <a:off x="960120" y="4572000"/>
            <a:ext cx="10195560" cy="914400"/>
          </a:xfrm>
          <a:prstGeom prst="rect">
            <a:avLst/>
          </a:prstGeom>
          <a:noFill/>
          <a:ln/>
        </p:spPr>
        <p:txBody>
          <a:bodyPr wrap="square" lIns="0" tIns="0" rIns="0" bIns="0" rtlCol="0" anchor="t"/>
          <a:lstStyle/>
          <a:p>
            <a:pPr indent="0" marL="0">
              <a:buNone/>
            </a:pPr>
            <a:r>
              <a:rPr lang="en-US" sz="1400" i="1" dirty="0">
                <a:solidFill>
                  <a:srgbClr val="F7F1E4"/>
                </a:solidFill>
                <a:latin typeface="Cambria" pitchFamily="34" charset="0"/>
                <a:ea typeface="Cambria" pitchFamily="34" charset="-122"/>
                <a:cs typeface="Cambria" pitchFamily="34" charset="-120"/>
              </a:rPr>
              <a:t>We're early — real conversations are underway with consumers right now, and this is where their voice will live as soon as we have it.</a:t>
            </a:r>
            <a:endParaRPr lang="en-US" sz="1400" dirty="0"/>
          </a:p>
        </p:txBody>
      </p:sp>
      <p:sp>
        <p:nvSpPr>
          <p:cNvPr id="16" name="Text 14"/>
          <p:cNvSpPr/>
          <p:nvPr/>
        </p:nvSpPr>
        <p:spPr>
          <a:xfrm>
            <a:off x="10972800" y="6355080"/>
            <a:ext cx="91440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07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CDD"/>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200" b="1" spc="200" kern="0" dirty="0">
                <a:solidFill>
                  <a:srgbClr val="C6416F"/>
                </a:solidFill>
                <a:latin typeface="Calibri" pitchFamily="34" charset="0"/>
                <a:ea typeface="Calibri" pitchFamily="34" charset="-122"/>
                <a:cs typeface="Calibri" pitchFamily="34" charset="-120"/>
              </a:rPr>
              <a:t>REVENUE MODEL</a:t>
            </a:r>
            <a:endParaRPr lang="en-US" sz="1200" dirty="0"/>
          </a:p>
        </p:txBody>
      </p:sp>
      <p:sp>
        <p:nvSpPr>
          <p:cNvPr id="3" name="Text 1"/>
          <p:cNvSpPr/>
          <p:nvPr/>
        </p:nvSpPr>
        <p:spPr>
          <a:xfrm>
            <a:off x="640080" y="868680"/>
            <a:ext cx="10515600" cy="822960"/>
          </a:xfrm>
          <a:prstGeom prst="rect">
            <a:avLst/>
          </a:prstGeom>
          <a:noFill/>
          <a:ln/>
        </p:spPr>
        <p:txBody>
          <a:bodyPr wrap="square" lIns="0" tIns="0" rIns="0" bIns="0" rtlCol="0" anchor="ctr"/>
          <a:lstStyle/>
          <a:p>
            <a:pPr indent="0" marL="0">
              <a:buNone/>
            </a:pPr>
            <a:r>
              <a:rPr lang="en-US" sz="2800" b="1" dirty="0">
                <a:solidFill>
                  <a:srgbClr val="1C2630"/>
                </a:solidFill>
                <a:latin typeface="Cambria" pitchFamily="34" charset="0"/>
                <a:ea typeface="Cambria" pitchFamily="34" charset="-122"/>
                <a:cs typeface="Cambria" pitchFamily="34" charset="-120"/>
              </a:rPr>
              <a:t>Every member pays differently. That's the point.</a:t>
            </a:r>
            <a:endParaRPr lang="en-US" sz="2800" dirty="0"/>
          </a:p>
        </p:txBody>
      </p:sp>
      <p:sp>
        <p:nvSpPr>
          <p:cNvPr id="4" name="Shape 2"/>
          <p:cNvSpPr/>
          <p:nvPr/>
        </p:nvSpPr>
        <p:spPr>
          <a:xfrm>
            <a:off x="640080" y="1920240"/>
            <a:ext cx="3429000" cy="2103120"/>
          </a:xfrm>
          <a:prstGeom prst="roundRect">
            <a:avLst>
              <a:gd name="adj" fmla="val 3478"/>
            </a:avLst>
          </a:prstGeom>
          <a:solidFill>
            <a:srgbClr val="FFFFFF"/>
          </a:solidFill>
          <a:ln/>
          <a:effectLst>
            <a:outerShdw sx="100000" sy="100000" kx="0" ky="0" algn="bl" rotWithShape="0" blurRad="101600" dist="25400" dir="2700000">
              <a:srgbClr val="000000">
                <a:alpha val="10000"/>
              </a:srgbClr>
            </a:outerShdw>
          </a:effectLst>
        </p:spPr>
      </p:sp>
      <p:sp>
        <p:nvSpPr>
          <p:cNvPr id="5" name="Text 3"/>
          <p:cNvSpPr/>
          <p:nvPr/>
        </p:nvSpPr>
        <p:spPr>
          <a:xfrm>
            <a:off x="914400" y="2148840"/>
            <a:ext cx="2880360" cy="457200"/>
          </a:xfrm>
          <a:prstGeom prst="rect">
            <a:avLst/>
          </a:prstGeom>
          <a:noFill/>
          <a:ln/>
        </p:spPr>
        <p:txBody>
          <a:bodyPr wrap="square" lIns="0" tIns="0" rIns="0" bIns="0" rtlCol="0" anchor="ctr"/>
          <a:lstStyle/>
          <a:p>
            <a:pPr indent="0" marL="0">
              <a:buNone/>
            </a:pPr>
            <a:r>
              <a:rPr lang="en-US" sz="1600" b="1" dirty="0">
                <a:solidFill>
                  <a:srgbClr val="C6416F"/>
                </a:solidFill>
                <a:latin typeface="Cambria" pitchFamily="34" charset="0"/>
                <a:ea typeface="Cambria" pitchFamily="34" charset="-122"/>
                <a:cs typeface="Cambria" pitchFamily="34" charset="-120"/>
              </a:rPr>
              <a:t>Set Plan</a:t>
            </a:r>
            <a:endParaRPr lang="en-US" sz="1600" dirty="0"/>
          </a:p>
        </p:txBody>
      </p:sp>
      <p:sp>
        <p:nvSpPr>
          <p:cNvPr id="6" name="Text 4"/>
          <p:cNvSpPr/>
          <p:nvPr/>
        </p:nvSpPr>
        <p:spPr>
          <a:xfrm>
            <a:off x="914400" y="2697480"/>
            <a:ext cx="2880360" cy="1188720"/>
          </a:xfrm>
          <a:prstGeom prst="rect">
            <a:avLst/>
          </a:prstGeom>
          <a:noFill/>
          <a:ln/>
        </p:spPr>
        <p:txBody>
          <a:bodyPr wrap="square" lIns="0" tIns="0" rIns="0" bIns="0" rtlCol="0" anchor="t"/>
          <a:lstStyle/>
          <a:p>
            <a:pPr indent="0" marL="0">
              <a:buNone/>
            </a:pPr>
            <a:r>
              <a:rPr lang="en-US" sz="1200" dirty="0">
                <a:solidFill>
                  <a:srgbClr val="1C2630"/>
                </a:solidFill>
                <a:latin typeface="Calibri" pitchFamily="34" charset="0"/>
                <a:ea typeface="Calibri" pitchFamily="34" charset="-122"/>
                <a:cs typeface="Calibri" pitchFamily="34" charset="-120"/>
              </a:rPr>
              <a:t>A fixed, known amount each month — for members spending a benefit allowance or a set budget.</a:t>
            </a:r>
            <a:endParaRPr lang="en-US" sz="1200" dirty="0"/>
          </a:p>
        </p:txBody>
      </p:sp>
      <p:sp>
        <p:nvSpPr>
          <p:cNvPr id="7" name="Shape 5"/>
          <p:cNvSpPr/>
          <p:nvPr/>
        </p:nvSpPr>
        <p:spPr>
          <a:xfrm>
            <a:off x="4389120" y="1920240"/>
            <a:ext cx="3429000" cy="2103120"/>
          </a:xfrm>
          <a:prstGeom prst="roundRect">
            <a:avLst>
              <a:gd name="adj" fmla="val 3478"/>
            </a:avLst>
          </a:prstGeom>
          <a:solidFill>
            <a:srgbClr val="FFFFFF"/>
          </a:solidFill>
          <a:ln/>
          <a:effectLst>
            <a:outerShdw sx="100000" sy="100000" kx="0" ky="0" algn="bl" rotWithShape="0" blurRad="101600" dist="25400" dir="2700000">
              <a:srgbClr val="000000">
                <a:alpha val="10000"/>
              </a:srgbClr>
            </a:outerShdw>
          </a:effectLst>
        </p:spPr>
      </p:sp>
      <p:sp>
        <p:nvSpPr>
          <p:cNvPr id="8" name="Text 6"/>
          <p:cNvSpPr/>
          <p:nvPr/>
        </p:nvSpPr>
        <p:spPr>
          <a:xfrm>
            <a:off x="4663440" y="2148840"/>
            <a:ext cx="2880360" cy="457200"/>
          </a:xfrm>
          <a:prstGeom prst="rect">
            <a:avLst/>
          </a:prstGeom>
          <a:noFill/>
          <a:ln/>
        </p:spPr>
        <p:txBody>
          <a:bodyPr wrap="square" lIns="0" tIns="0" rIns="0" bIns="0" rtlCol="0" anchor="ctr"/>
          <a:lstStyle/>
          <a:p>
            <a:pPr indent="0" marL="0">
              <a:buNone/>
            </a:pPr>
            <a:r>
              <a:rPr lang="en-US" sz="1600" b="1" dirty="0">
                <a:solidFill>
                  <a:srgbClr val="C6416F"/>
                </a:solidFill>
                <a:latin typeface="Cambria" pitchFamily="34" charset="0"/>
                <a:ea typeface="Cambria" pitchFamily="34" charset="-122"/>
                <a:cs typeface="Cambria" pitchFamily="34" charset="-120"/>
              </a:rPr>
              <a:t>Open Plan</a:t>
            </a:r>
            <a:endParaRPr lang="en-US" sz="1600" dirty="0"/>
          </a:p>
        </p:txBody>
      </p:sp>
      <p:sp>
        <p:nvSpPr>
          <p:cNvPr id="9" name="Text 7"/>
          <p:cNvSpPr/>
          <p:nvPr/>
        </p:nvSpPr>
        <p:spPr>
          <a:xfrm>
            <a:off x="4663440" y="2697480"/>
            <a:ext cx="2880360" cy="1188720"/>
          </a:xfrm>
          <a:prstGeom prst="rect">
            <a:avLst/>
          </a:prstGeom>
          <a:noFill/>
          <a:ln/>
        </p:spPr>
        <p:txBody>
          <a:bodyPr wrap="square" lIns="0" tIns="0" rIns="0" bIns="0" rtlCol="0" anchor="t"/>
          <a:lstStyle/>
          <a:p>
            <a:pPr indent="0" marL="0">
              <a:buNone/>
            </a:pPr>
            <a:r>
              <a:rPr lang="en-US" sz="1200" dirty="0">
                <a:solidFill>
                  <a:srgbClr val="1C2630"/>
                </a:solidFill>
                <a:latin typeface="Calibri" pitchFamily="34" charset="0"/>
                <a:ea typeface="Calibri" pitchFamily="34" charset="-122"/>
                <a:cs typeface="Calibri" pitchFamily="34" charset="-120"/>
              </a:rPr>
              <a:t>Flexible spend, no ceiling — for members who'd rather not cap a good thing.</a:t>
            </a:r>
            <a:endParaRPr lang="en-US" sz="1200" dirty="0"/>
          </a:p>
        </p:txBody>
      </p:sp>
      <p:sp>
        <p:nvSpPr>
          <p:cNvPr id="10" name="Shape 8"/>
          <p:cNvSpPr/>
          <p:nvPr/>
        </p:nvSpPr>
        <p:spPr>
          <a:xfrm>
            <a:off x="8138160" y="1920240"/>
            <a:ext cx="3429000" cy="2103120"/>
          </a:xfrm>
          <a:prstGeom prst="roundRect">
            <a:avLst>
              <a:gd name="adj" fmla="val 3478"/>
            </a:avLst>
          </a:prstGeom>
          <a:solidFill>
            <a:srgbClr val="FFFFFF"/>
          </a:solidFill>
          <a:ln/>
          <a:effectLst>
            <a:outerShdw sx="100000" sy="100000" kx="0" ky="0" algn="bl" rotWithShape="0" blurRad="101600" dist="25400" dir="2700000">
              <a:srgbClr val="000000">
                <a:alpha val="10000"/>
              </a:srgbClr>
            </a:outerShdw>
          </a:effectLst>
        </p:spPr>
      </p:sp>
      <p:sp>
        <p:nvSpPr>
          <p:cNvPr id="11" name="Text 9"/>
          <p:cNvSpPr/>
          <p:nvPr/>
        </p:nvSpPr>
        <p:spPr>
          <a:xfrm>
            <a:off x="8412480" y="2148840"/>
            <a:ext cx="2880360" cy="457200"/>
          </a:xfrm>
          <a:prstGeom prst="rect">
            <a:avLst/>
          </a:prstGeom>
          <a:noFill/>
          <a:ln/>
        </p:spPr>
        <p:txBody>
          <a:bodyPr wrap="square" lIns="0" tIns="0" rIns="0" bIns="0" rtlCol="0" anchor="ctr"/>
          <a:lstStyle/>
          <a:p>
            <a:pPr indent="0" marL="0">
              <a:buNone/>
            </a:pPr>
            <a:r>
              <a:rPr lang="en-US" sz="1600" b="1" dirty="0">
                <a:solidFill>
                  <a:srgbClr val="C6416F"/>
                </a:solidFill>
                <a:latin typeface="Cambria" pitchFamily="34" charset="0"/>
                <a:ea typeface="Cambria" pitchFamily="34" charset="-122"/>
                <a:cs typeface="Cambria" pitchFamily="34" charset="-120"/>
              </a:rPr>
              <a:t>Benefit dollars</a:t>
            </a:r>
            <a:endParaRPr lang="en-US" sz="1600" dirty="0"/>
          </a:p>
        </p:txBody>
      </p:sp>
      <p:sp>
        <p:nvSpPr>
          <p:cNvPr id="12" name="Text 10"/>
          <p:cNvSpPr/>
          <p:nvPr/>
        </p:nvSpPr>
        <p:spPr>
          <a:xfrm>
            <a:off x="8412480" y="2697480"/>
            <a:ext cx="2880360" cy="1188720"/>
          </a:xfrm>
          <a:prstGeom prst="rect">
            <a:avLst/>
          </a:prstGeom>
          <a:noFill/>
          <a:ln/>
        </p:spPr>
        <p:txBody>
          <a:bodyPr wrap="square" lIns="0" tIns="0" rIns="0" bIns="0" rtlCol="0" anchor="t"/>
          <a:lstStyle/>
          <a:p>
            <a:pPr indent="0" marL="0">
              <a:buNone/>
            </a:pPr>
            <a:r>
              <a:rPr lang="en-US" sz="1200" dirty="0">
                <a:solidFill>
                  <a:srgbClr val="1C2630"/>
                </a:solidFill>
                <a:latin typeface="Calibri" pitchFamily="34" charset="0"/>
                <a:ea typeface="Calibri" pitchFamily="34" charset="-122"/>
                <a:cs typeface="Calibri" pitchFamily="34" charset="-120"/>
              </a:rPr>
              <a:t>Wellness/flex card allowances applied directly, split with cash where needed.</a:t>
            </a:r>
            <a:endParaRPr lang="en-US" sz="1200" dirty="0"/>
          </a:p>
        </p:txBody>
      </p:sp>
      <p:sp>
        <p:nvSpPr>
          <p:cNvPr id="13" name="Shape 11"/>
          <p:cNvSpPr/>
          <p:nvPr/>
        </p:nvSpPr>
        <p:spPr>
          <a:xfrm>
            <a:off x="640080" y="4343400"/>
            <a:ext cx="10835640" cy="1371600"/>
          </a:xfrm>
          <a:prstGeom prst="roundRect">
            <a:avLst>
              <a:gd name="adj" fmla="val 5333"/>
            </a:avLst>
          </a:prstGeom>
          <a:solidFill>
            <a:srgbClr val="262B29"/>
          </a:solidFill>
          <a:ln/>
        </p:spPr>
      </p:sp>
      <p:sp>
        <p:nvSpPr>
          <p:cNvPr id="14" name="Text 12"/>
          <p:cNvSpPr/>
          <p:nvPr/>
        </p:nvSpPr>
        <p:spPr>
          <a:xfrm>
            <a:off x="960120" y="4617720"/>
            <a:ext cx="10195560" cy="822960"/>
          </a:xfrm>
          <a:prstGeom prst="rect">
            <a:avLst/>
          </a:prstGeom>
          <a:noFill/>
          <a:ln/>
        </p:spPr>
        <p:txBody>
          <a:bodyPr wrap="square" lIns="0" tIns="0" rIns="0" bIns="0" rtlCol="0" anchor="t"/>
          <a:lstStyle/>
          <a:p>
            <a:pPr indent="0" marL="0">
              <a:buNone/>
            </a:pPr>
            <a:r>
              <a:rPr lang="en-US" sz="1350" dirty="0">
                <a:solidFill>
                  <a:srgbClr val="F7F1E4"/>
                </a:solidFill>
                <a:latin typeface="Calibri" pitchFamily="34" charset="0"/>
                <a:ea typeface="Calibri" pitchFamily="34" charset="-122"/>
                <a:cs typeface="Calibri" pitchFamily="34" charset="-120"/>
              </a:rPr>
              <a:t>Status: Pre-revenue — members onboarded manually by a Navigator today.</a:t>
            </a:r>
            <a:endParaRPr lang="en-US" sz="1350" dirty="0"/>
          </a:p>
        </p:txBody>
      </p:sp>
      <p:sp>
        <p:nvSpPr>
          <p:cNvPr id="15" name="Text 13"/>
          <p:cNvSpPr/>
          <p:nvPr/>
        </p:nvSpPr>
        <p:spPr>
          <a:xfrm>
            <a:off x="10972800" y="6355080"/>
            <a:ext cx="91440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08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62B29"/>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200" b="1" spc="200" kern="0" dirty="0">
                <a:solidFill>
                  <a:srgbClr val="8CA37E"/>
                </a:solidFill>
                <a:latin typeface="Calibri" pitchFamily="34" charset="0"/>
                <a:ea typeface="Calibri" pitchFamily="34" charset="-122"/>
                <a:cs typeface="Calibri" pitchFamily="34" charset="-120"/>
              </a:rPr>
              <a:t>FUNDRAISING &amp; THE ASK</a:t>
            </a:r>
            <a:endParaRPr lang="en-US" sz="1200" dirty="0"/>
          </a:p>
        </p:txBody>
      </p:sp>
      <p:sp>
        <p:nvSpPr>
          <p:cNvPr id="3" name="Text 1"/>
          <p:cNvSpPr/>
          <p:nvPr/>
        </p:nvSpPr>
        <p:spPr>
          <a:xfrm>
            <a:off x="640080" y="868680"/>
            <a:ext cx="10515600" cy="822960"/>
          </a:xfrm>
          <a:prstGeom prst="rect">
            <a:avLst/>
          </a:prstGeom>
          <a:noFill/>
          <a:ln/>
        </p:spPr>
        <p:txBody>
          <a:bodyPr wrap="square" lIns="0" tIns="0" rIns="0" bIns="0" rtlCol="0" anchor="ctr"/>
          <a:lstStyle/>
          <a:p>
            <a:pPr indent="0" marL="0">
              <a:buNone/>
            </a:pPr>
            <a:r>
              <a:rPr lang="en-US" sz="3000" b="1" dirty="0">
                <a:solidFill>
                  <a:srgbClr val="F7F1E4"/>
                </a:solidFill>
                <a:latin typeface="Cambria" pitchFamily="34" charset="0"/>
                <a:ea typeface="Cambria" pitchFamily="34" charset="-122"/>
                <a:cs typeface="Cambria" pitchFamily="34" charset="-120"/>
              </a:rPr>
              <a:t>Where we are, and what we need.</a:t>
            </a:r>
            <a:endParaRPr lang="en-US" sz="3000" dirty="0"/>
          </a:p>
        </p:txBody>
      </p:sp>
      <p:sp>
        <p:nvSpPr>
          <p:cNvPr id="4" name="Shape 2"/>
          <p:cNvSpPr/>
          <p:nvPr/>
        </p:nvSpPr>
        <p:spPr>
          <a:xfrm>
            <a:off x="640080" y="1965960"/>
            <a:ext cx="777240" cy="777240"/>
          </a:xfrm>
          <a:prstGeom prst="ellipse">
            <a:avLst/>
          </a:prstGeom>
          <a:solidFill>
            <a:srgbClr val="F3ECDD"/>
          </a:solidFill>
          <a:ln/>
        </p:spPr>
      </p:sp>
      <p:pic>
        <p:nvPicPr>
          <p:cNvPr id="5" name="Image 0" descr="preencoded.png">    </p:cNvPr>
          <p:cNvPicPr>
            <a:picLocks noChangeAspect="1"/>
          </p:cNvPicPr>
          <p:nvPr/>
        </p:nvPicPr>
        <p:blipFill>
          <a:blip r:embed="rId1"/>
          <a:stretch>
            <a:fillRect/>
          </a:stretch>
        </p:blipFill>
        <p:spPr>
          <a:xfrm>
            <a:off x="842162" y="2168042"/>
            <a:ext cx="373075" cy="373075"/>
          </a:xfrm>
          <a:prstGeom prst="rect">
            <a:avLst/>
          </a:prstGeom>
        </p:spPr>
      </p:pic>
      <p:sp>
        <p:nvSpPr>
          <p:cNvPr id="6" name="Text 3"/>
          <p:cNvSpPr/>
          <p:nvPr/>
        </p:nvSpPr>
        <p:spPr>
          <a:xfrm>
            <a:off x="1691640" y="1965960"/>
            <a:ext cx="9144000" cy="237744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D8D2C2"/>
                </a:solidFill>
                <a:latin typeface="Calibri" pitchFamily="34" charset="0"/>
                <a:ea typeface="Calibri" pitchFamily="34" charset="-122"/>
                <a:cs typeface="Calibri" pitchFamily="34" charset="-120"/>
              </a:rPr>
              <a:t>Raised to date: $0 — fully bootstrapped</a:t>
            </a:r>
            <a:endParaRPr lang="en-US" sz="1500" dirty="0"/>
          </a:p>
          <a:p>
            <a:pPr marL="342900" indent="-342900">
              <a:spcAft>
                <a:spcPts val="1000"/>
              </a:spcAft>
              <a:buSzPct val="100000"/>
              <a:buChar char="•"/>
            </a:pPr>
            <a:r>
              <a:rPr lang="en-US" sz="1500" dirty="0">
                <a:solidFill>
                  <a:srgbClr val="D8D2C2"/>
                </a:solidFill>
                <a:latin typeface="Calibri" pitchFamily="34" charset="0"/>
                <a:ea typeface="Calibri" pitchFamily="34" charset="-122"/>
                <a:cs typeface="Calibri" pitchFamily="34" charset="-120"/>
              </a:rPr>
              <a:t>Currently fundraising: No</a:t>
            </a:r>
            <a:endParaRPr lang="en-US" sz="1500" dirty="0"/>
          </a:p>
          <a:p>
            <a:pPr marL="342900" indent="-342900">
              <a:spcAft>
                <a:spcPts val="1000"/>
              </a:spcAft>
              <a:buSzPct val="100000"/>
              <a:buChar char="•"/>
            </a:pPr>
            <a:r>
              <a:rPr lang="en-US" sz="1500" dirty="0">
                <a:solidFill>
                  <a:srgbClr val="D8D2C2"/>
                </a:solidFill>
                <a:latin typeface="Calibri" pitchFamily="34" charset="0"/>
                <a:ea typeface="Calibri" pitchFamily="34" charset="-122"/>
                <a:cs typeface="Calibri" pitchFamily="34" charset="-120"/>
              </a:rPr>
              <a:t>Runway: Self-funded, no formal runway clock</a:t>
            </a:r>
            <a:endParaRPr lang="en-US" sz="1500" dirty="0"/>
          </a:p>
          <a:p>
            <a:pPr marL="342900" indent="-342900">
              <a:spcAft>
                <a:spcPts val="1000"/>
              </a:spcAft>
              <a:buSzPct val="100000"/>
              <a:buChar char="•"/>
            </a:pPr>
            <a:r>
              <a:rPr lang="en-US" sz="1500" dirty="0">
                <a:solidFill>
                  <a:srgbClr val="D8D2C2"/>
                </a:solidFill>
                <a:latin typeface="Calibri" pitchFamily="34" charset="0"/>
                <a:ea typeface="Calibri" pitchFamily="34" charset="-122"/>
                <a:cs typeface="Calibri" pitchFamily="34" charset="-120"/>
              </a:rPr>
              <a:t>Use of funds: provider network expansion, transportation partnerships, benefit-network integration</a:t>
            </a:r>
            <a:endParaRPr lang="en-US" sz="1500" dirty="0"/>
          </a:p>
        </p:txBody>
      </p:sp>
      <p:sp>
        <p:nvSpPr>
          <p:cNvPr id="7" name="Shape 4"/>
          <p:cNvSpPr/>
          <p:nvPr/>
        </p:nvSpPr>
        <p:spPr>
          <a:xfrm>
            <a:off x="640080" y="4663440"/>
            <a:ext cx="10835640" cy="1188720"/>
          </a:xfrm>
          <a:prstGeom prst="roundRect">
            <a:avLst>
              <a:gd name="adj" fmla="val 6154"/>
            </a:avLst>
          </a:prstGeom>
          <a:solidFill>
            <a:srgbClr val="C6416F"/>
          </a:solidFill>
          <a:ln/>
        </p:spPr>
      </p:sp>
      <p:sp>
        <p:nvSpPr>
          <p:cNvPr id="8" name="Text 5"/>
          <p:cNvSpPr/>
          <p:nvPr/>
        </p:nvSpPr>
        <p:spPr>
          <a:xfrm>
            <a:off x="960120" y="4892040"/>
            <a:ext cx="10195560" cy="777240"/>
          </a:xfrm>
          <a:prstGeom prst="rect">
            <a:avLst/>
          </a:prstGeom>
          <a:noFill/>
          <a:ln/>
        </p:spPr>
        <p:txBody>
          <a:bodyPr wrap="square" lIns="0" tIns="0" rIns="0" bIns="0" rtlCol="0" anchor="t"/>
          <a:lstStyle/>
          <a:p>
            <a:pPr indent="0" marL="0">
              <a:buNone/>
            </a:pPr>
            <a:r>
              <a:rPr lang="en-US" sz="1350" dirty="0">
                <a:solidFill>
                  <a:srgbClr val="F7F1E4"/>
                </a:solidFill>
                <a:latin typeface="Calibri" pitchFamily="34" charset="0"/>
                <a:ea typeface="Calibri" pitchFamily="34" charset="-122"/>
                <a:cs typeface="Calibri" pitchFamily="34" charset="-120"/>
              </a:rPr>
              <a:t>What we're looking for from AgeTech Collaborative: mentorship on marketplace supply-side growth, and an accelerator built for this audience.</a:t>
            </a:r>
            <a:endParaRPr lang="en-US" sz="1350" dirty="0"/>
          </a:p>
        </p:txBody>
      </p:sp>
      <p:sp>
        <p:nvSpPr>
          <p:cNvPr id="9" name="Text 6"/>
          <p:cNvSpPr/>
          <p:nvPr/>
        </p:nvSpPr>
        <p:spPr>
          <a:xfrm>
            <a:off x="10972800" y="6355080"/>
            <a:ext cx="91440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09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CDD"/>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200" b="1" spc="200" kern="0" dirty="0">
                <a:solidFill>
                  <a:srgbClr val="C6416F"/>
                </a:solidFill>
                <a:latin typeface="Calibri" pitchFamily="34" charset="0"/>
                <a:ea typeface="Calibri" pitchFamily="34" charset="-122"/>
                <a:cs typeface="Calibri" pitchFamily="34" charset="-120"/>
              </a:rPr>
              <a:t>TEAM &amp; ADVISORS</a:t>
            </a:r>
            <a:endParaRPr lang="en-US" sz="1200" dirty="0"/>
          </a:p>
        </p:txBody>
      </p:sp>
      <p:sp>
        <p:nvSpPr>
          <p:cNvPr id="3" name="Text 1"/>
          <p:cNvSpPr/>
          <p:nvPr/>
        </p:nvSpPr>
        <p:spPr>
          <a:xfrm>
            <a:off x="640080" y="868680"/>
            <a:ext cx="10515600" cy="822960"/>
          </a:xfrm>
          <a:prstGeom prst="rect">
            <a:avLst/>
          </a:prstGeom>
          <a:noFill/>
          <a:ln/>
        </p:spPr>
        <p:txBody>
          <a:bodyPr wrap="square" lIns="0" tIns="0" rIns="0" bIns="0" rtlCol="0" anchor="ctr"/>
          <a:lstStyle/>
          <a:p>
            <a:pPr indent="0" marL="0">
              <a:buNone/>
            </a:pPr>
            <a:r>
              <a:rPr lang="en-US" sz="3000" b="1" dirty="0">
                <a:solidFill>
                  <a:srgbClr val="1C2630"/>
                </a:solidFill>
                <a:latin typeface="Cambria" pitchFamily="34" charset="0"/>
                <a:ea typeface="Cambria" pitchFamily="34" charset="-122"/>
                <a:cs typeface="Cambria" pitchFamily="34" charset="-120"/>
              </a:rPr>
              <a:t>Jaye Johnson</a:t>
            </a:r>
            <a:endParaRPr lang="en-US" sz="3000" dirty="0"/>
          </a:p>
        </p:txBody>
      </p:sp>
      <p:sp>
        <p:nvSpPr>
          <p:cNvPr id="4" name="Shape 2"/>
          <p:cNvSpPr/>
          <p:nvPr/>
        </p:nvSpPr>
        <p:spPr>
          <a:xfrm>
            <a:off x="640080" y="1920240"/>
            <a:ext cx="822960" cy="822960"/>
          </a:xfrm>
          <a:prstGeom prst="ellipse">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854050" y="2134210"/>
            <a:ext cx="395021" cy="395021"/>
          </a:xfrm>
          <a:prstGeom prst="rect">
            <a:avLst/>
          </a:prstGeom>
        </p:spPr>
      </p:pic>
      <p:sp>
        <p:nvSpPr>
          <p:cNvPr id="6" name="Text 3"/>
          <p:cNvSpPr/>
          <p:nvPr/>
        </p:nvSpPr>
        <p:spPr>
          <a:xfrm>
            <a:off x="1737360" y="1965960"/>
            <a:ext cx="566928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C2630"/>
                </a:solidFill>
                <a:latin typeface="Calibri" pitchFamily="34" charset="0"/>
                <a:ea typeface="Calibri" pitchFamily="34" charset="-122"/>
                <a:cs typeface="Calibri" pitchFamily="34" charset="-120"/>
              </a:rPr>
              <a:t>First-time founder: Yes</a:t>
            </a:r>
            <a:endParaRPr lang="en-US" sz="1400" dirty="0"/>
          </a:p>
          <a:p>
            <a:pPr marL="342900" indent="-342900">
              <a:spcAft>
                <a:spcPts val="1000"/>
              </a:spcAft>
              <a:buSzPct val="100000"/>
              <a:buChar char="•"/>
            </a:pPr>
            <a:r>
              <a:rPr lang="en-US" sz="1400" dirty="0">
                <a:solidFill>
                  <a:srgbClr val="1C2630"/>
                </a:solidFill>
                <a:latin typeface="Calibri" pitchFamily="34" charset="0"/>
                <a:ea typeface="Calibri" pitchFamily="34" charset="-122"/>
                <a:cs typeface="Calibri" pitchFamily="34" charset="-120"/>
              </a:rPr>
              <a:t>6+ years in technical support &amp; systems administration (Azure AD, Intune, ServiceNow, Salesforce, Tableau); a decade running an independent service business managing complex scheduling and client logistics across Northern California. Ex-Amazon, Ex-UCSF, Ex-Upwork HQ.</a:t>
            </a:r>
            <a:endParaRPr lang="en-US" sz="1400" dirty="0"/>
          </a:p>
          <a:p>
            <a:pPr marL="342900" indent="-342900">
              <a:spcAft>
                <a:spcPts val="1000"/>
              </a:spcAft>
              <a:buSzPct val="100000"/>
              <a:buChar char="•"/>
            </a:pPr>
            <a:r>
              <a:rPr lang="en-US" sz="1400" dirty="0">
                <a:solidFill>
                  <a:srgbClr val="1C2630"/>
                </a:solidFill>
                <a:latin typeface="Calibri" pitchFamily="34" charset="0"/>
                <a:ea typeface="Calibri" pitchFamily="34" charset="-122"/>
                <a:cs typeface="Calibri" pitchFamily="34" charset="-120"/>
              </a:rPr>
              <a:t>I'm a younger senior who is caregiving for an active elder — her friend is our neighbor in her 80s who rotates between senior centers and drives an hour weekly to see her sister who does the same. She built this life herself; I'm building the version everyone else can access from day one, too.</a:t>
            </a:r>
            <a:endParaRPr lang="en-US" sz="1400" dirty="0"/>
          </a:p>
        </p:txBody>
      </p:sp>
      <p:sp>
        <p:nvSpPr>
          <p:cNvPr id="7" name="Shape 4"/>
          <p:cNvSpPr/>
          <p:nvPr/>
        </p:nvSpPr>
        <p:spPr>
          <a:xfrm>
            <a:off x="7680960" y="1828800"/>
            <a:ext cx="3840480" cy="3108960"/>
          </a:xfrm>
          <a:prstGeom prst="roundRect">
            <a:avLst>
              <a:gd name="adj" fmla="val 2353"/>
            </a:avLst>
          </a:prstGeom>
          <a:solidFill>
            <a:srgbClr val="262B29"/>
          </a:solidFill>
          <a:ln/>
        </p:spPr>
      </p:sp>
      <p:sp>
        <p:nvSpPr>
          <p:cNvPr id="8" name="Text 5"/>
          <p:cNvSpPr/>
          <p:nvPr/>
        </p:nvSpPr>
        <p:spPr>
          <a:xfrm>
            <a:off x="7955280" y="2057400"/>
            <a:ext cx="3291840" cy="365760"/>
          </a:xfrm>
          <a:prstGeom prst="rect">
            <a:avLst/>
          </a:prstGeom>
          <a:noFill/>
          <a:ln/>
        </p:spPr>
        <p:txBody>
          <a:bodyPr wrap="square" lIns="0" tIns="0" rIns="0" bIns="0" rtlCol="0" anchor="ctr"/>
          <a:lstStyle/>
          <a:p>
            <a:pPr indent="0" marL="0">
              <a:buNone/>
            </a:pPr>
            <a:r>
              <a:rPr lang="en-US" sz="1300" b="1" dirty="0">
                <a:solidFill>
                  <a:srgbClr val="8CA37E"/>
                </a:solidFill>
                <a:latin typeface="Calibri" pitchFamily="34" charset="0"/>
                <a:ea typeface="Calibri" pitchFamily="34" charset="-122"/>
                <a:cs typeface="Calibri" pitchFamily="34" charset="-120"/>
              </a:rPr>
              <a:t>Advisors &amp; team</a:t>
            </a:r>
            <a:endParaRPr lang="en-US" sz="1300" dirty="0"/>
          </a:p>
        </p:txBody>
      </p:sp>
      <p:sp>
        <p:nvSpPr>
          <p:cNvPr id="9" name="Text 6"/>
          <p:cNvSpPr/>
          <p:nvPr/>
        </p:nvSpPr>
        <p:spPr>
          <a:xfrm>
            <a:off x="7955280" y="2514600"/>
            <a:ext cx="3291840" cy="2286000"/>
          </a:xfrm>
          <a:prstGeom prst="rect">
            <a:avLst/>
          </a:prstGeom>
          <a:noFill/>
          <a:ln/>
        </p:spPr>
        <p:txBody>
          <a:bodyPr wrap="square" lIns="0" tIns="0" rIns="0" bIns="0" rtlCol="0" anchor="t"/>
          <a:lstStyle/>
          <a:p>
            <a:pPr indent="0" marL="0">
              <a:buNone/>
            </a:pPr>
            <a:r>
              <a:rPr lang="en-US" sz="1200" dirty="0">
                <a:solidFill>
                  <a:srgbClr val="D8D2C2"/>
                </a:solidFill>
                <a:latin typeface="Calibri" pitchFamily="34" charset="0"/>
                <a:ea typeface="Calibri" pitchFamily="34" charset="-122"/>
                <a:cs typeface="Calibri" pitchFamily="34" charset="-120"/>
              </a:rPr>
              <a:t>Currently a solo, first-time founder — actively building an advisory circle as Saunterby grows.</a:t>
            </a:r>
            <a:endParaRPr lang="en-US" sz="1200" dirty="0"/>
          </a:p>
        </p:txBody>
      </p:sp>
      <p:sp>
        <p:nvSpPr>
          <p:cNvPr id="10" name="Text 7"/>
          <p:cNvSpPr/>
          <p:nvPr/>
        </p:nvSpPr>
        <p:spPr>
          <a:xfrm>
            <a:off x="10972800" y="6355080"/>
            <a:ext cx="91440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Saunterby — Built to Keep Going</dc:title>
  <dc:subject>PptxGenJS Presentation</dc:subject>
  <dc:creator>Saunterby</dc:creator>
  <cp:lastModifiedBy>Saunterby</cp:lastModifiedBy>
  <cp:revision>1</cp:revision>
  <dcterms:created xsi:type="dcterms:W3CDTF">2026-07-02T03:22:29Z</dcterms:created>
  <dcterms:modified xsi:type="dcterms:W3CDTF">2026-07-02T03:22:29Z</dcterms:modified>
</cp:coreProperties>
</file>